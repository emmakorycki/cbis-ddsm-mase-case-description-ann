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2XLHyYXwqRS5mmFTnFsdAxkQJ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1F202D-FF9B-4914-88D8-CDAD4D17DFF4}">
  <a:tblStyle styleId="{FF1F202D-FF9B-4914-88D8-CDAD4D17DF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cdc.gov/breast-cancer/statistics/index.html" TargetMode="External"/><Relationship Id="rId3" Type="http://schemas.openxmlformats.org/officeDocument/2006/relationships/hyperlink" Target="https://www.cancer.org/cancer/types/breast-cancer/about/how-common-is-breast-cancer.html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You can do it on a mobile phone</a:t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https://www.cdc.gov/breast-cancer/statistics/index.html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https://www.cancer.org/cancer/types/breast-cancer/about/how-common-is-breast-cancer.html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d5edadb24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d5edadb24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https://www.cancer.org/cancer/types/breast-cancer/screening-tests-and-early-detection/mammograms/limitations-of-mammograms.html</a:t>
            </a:r>
            <a:endParaRPr/>
          </a:p>
        </p:txBody>
      </p:sp>
      <p:sp>
        <p:nvSpPr>
          <p:cNvPr id="117" name="Google Shape;117;g3ad5edadb24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d5edadb24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d5edadb24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ad5edadb24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d5edadb24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d5edadb24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ad5edadb24_0_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d5edadb24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d5edadb24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ad5edadb24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d5edadb24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d5edadb24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ad5edadb24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d5edadb24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d5edadb24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ad5edadb24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d5edadb24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d5edadb24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ad5edadb24_0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d5edadb24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d5edadb24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ad5edadb24_0_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d5edadb24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d5edadb24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ad5edadb24_0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d5edadb24_0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d5edadb24_0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ad5edadb24_0_1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d5edadb24_0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d5edadb24_0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ad5edadb24_0_1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d5edadb24_0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d5edadb24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ad5edadb24_0_1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d5edadb24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d5edadb24_0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ad5edadb24_0_1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d5edadb24_0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d5edadb24_0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ad5edadb24_0_1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d5edadb24_0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d5edadb24_0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ad5edadb24_0_1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603e795d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603e795d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a603e795d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9FC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cancer.org/cancer/types/breast-cancer/about/how-common-is-breast-cancer.html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hyperlink" Target="https://www.researchgate.net/figure/This-figure-offers-a-detailed-visualization-of-breast-cancer-statistics-showcasing_fig2_393263610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cancer.org/cancer/types/breast-cancer/screening-tests-and-early-detection/mammograms/limitations-of-mammograms.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cancerimagingarchive.net/collection/cbis-ddsm/" TargetMode="External"/><Relationship Id="rId4" Type="http://schemas.openxmlformats.org/officeDocument/2006/relationships/hyperlink" Target="https://www.cancerimagingarchive.net/collection/cbis-ddsm/" TargetMode="External"/><Relationship Id="rId5" Type="http://schemas.openxmlformats.org/officeDocument/2006/relationships/hyperlink" Target="https://www.cancerimagingarchive.net/collection/cbis-ddsm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oi.org/10.1038/s41598-025-05276-7" TargetMode="External"/><Relationship Id="rId4" Type="http://schemas.openxmlformats.org/officeDocument/2006/relationships/hyperlink" Target="https://www.cancer.org/cancer/types/breast-cancer/screening-tests-and-early-detection/mammograms/limitations-of-mammograms.html" TargetMode="External"/><Relationship Id="rId5" Type="http://schemas.openxmlformats.org/officeDocument/2006/relationships/hyperlink" Target="https://www.cancer.org/cancer/types/breast-cancer/about/how-common-is-breast-cancer.html" TargetMode="External"/><Relationship Id="rId6" Type="http://schemas.openxmlformats.org/officeDocument/2006/relationships/hyperlink" Target="https://www.cdc.gov/breast-cancer/statistics/index.html" TargetMode="External"/><Relationship Id="rId7" Type="http://schemas.openxmlformats.org/officeDocument/2006/relationships/hyperlink" Target="https://medium.com/@piyushkashyap045/mastering-hyperparameter-tuning-for-neural-networks-with-keras-tuner-c0b64d549188" TargetMode="External"/><Relationship Id="rId8" Type="http://schemas.openxmlformats.org/officeDocument/2006/relationships/hyperlink" Target="https://doi.org/10.7937/K9/TCIA.2016.7O02S9C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811038" y="1431841"/>
            <a:ext cx="10282989" cy="176429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>
                <a:solidFill>
                  <a:srgbClr val="FFFFFF"/>
                </a:solidFill>
              </a:rPr>
              <a:t>Breast Cancer Detection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381991" y="3509963"/>
            <a:ext cx="9712036" cy="2387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solidFill>
                  <a:schemeClr val="lt1"/>
                </a:solidFill>
              </a:rPr>
              <a:t>Emma Korycki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solidFill>
                  <a:schemeClr val="lt1"/>
                </a:solidFill>
              </a:rPr>
              <a:t>ekory003@ucr.edu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3200"/>
              <a:buNone/>
            </a:pPr>
            <a:r>
              <a:rPr lang="en-US" sz="3200">
                <a:solidFill>
                  <a:schemeClr val="lt1"/>
                </a:solidFill>
              </a:rPr>
              <a:t>Dec 4, </a:t>
            </a:r>
            <a:r>
              <a:rPr lang="en-US" sz="3200">
                <a:solidFill>
                  <a:schemeClr val="lt1"/>
                </a:solidFill>
              </a:rPr>
              <a:t>2025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0" y="6177265"/>
            <a:ext cx="7211683" cy="5880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A9DB"/>
              </a:buClr>
              <a:buSzPct val="100000"/>
              <a:buFont typeface="Calibri"/>
              <a:buNone/>
            </a:pPr>
            <a:r>
              <a:rPr b="1" i="0" lang="en-US" sz="3000" u="none" cap="none" strike="noStrike">
                <a:solidFill>
                  <a:srgbClr val="8DA9DB"/>
                </a:solidFill>
                <a:latin typeface="Calibri"/>
                <a:ea typeface="Calibri"/>
                <a:cs typeface="Calibri"/>
                <a:sym typeface="Calibri"/>
              </a:rPr>
              <a:t>UC Riverside, ECE 16 Data Science for Engineering Applications</a:t>
            </a:r>
            <a:endParaRPr b="0" i="0" sz="3000" u="none" cap="none" strike="noStrike">
              <a:solidFill>
                <a:srgbClr val="8DA9D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0551" y="106116"/>
            <a:ext cx="2651449" cy="26514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east Cancer Ribbon PNG &amp; SVG Design For T-Shirts" id="93" name="Google Shape;93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625" y="106125"/>
            <a:ext cx="2140200" cy="21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8629400" y="6808525"/>
            <a:ext cx="359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394450" y="952100"/>
            <a:ext cx="3765000" cy="438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-3556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scipy import stats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import numpy as np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import matplotlib.pyplot as plt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sklearn.cluster import KMeans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import seaborn as sns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•"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scipy.stats import chi2_contingency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394447" y="281188"/>
            <a:ext cx="10233300" cy="49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libraries and Tools:</a:t>
            </a:r>
            <a:endParaRPr b="1">
              <a:solidFill>
                <a:srgbClr val="FFFFFF"/>
              </a:solidFill>
            </a:endParaRPr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6024" y="106117"/>
            <a:ext cx="845976" cy="84597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0" y="6177265"/>
            <a:ext cx="72117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A9DB"/>
              </a:buClr>
              <a:buSzPct val="100000"/>
              <a:buFont typeface="Calibri"/>
              <a:buNone/>
            </a:pPr>
            <a:r>
              <a:rPr b="1" i="0" lang="en-US" sz="3000" u="none" cap="none" strike="noStrike">
                <a:solidFill>
                  <a:srgbClr val="8DA9DB"/>
                </a:solidFill>
                <a:latin typeface="Calibri"/>
                <a:ea typeface="Calibri"/>
                <a:cs typeface="Calibri"/>
                <a:sym typeface="Calibri"/>
              </a:rPr>
              <a:t>UC Riverside, ECE 16 Data Science for Engineering Applications</a:t>
            </a:r>
            <a:endParaRPr b="0" i="0" sz="3000" u="none" cap="none" strike="noStrike">
              <a:solidFill>
                <a:srgbClr val="8DA9D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4359575" y="952100"/>
            <a:ext cx="7211700" cy="3627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●"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sklearn.preprocessing import StandardScaler</a:t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●"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sklearn.neural_network import MLPClassifier</a:t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●"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sklearn.metrics import accuracy_score, classification_report</a:t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●"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sklearn.utils import resample</a:t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●"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sklearn.decomposition import PCA</a:t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●"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sklearn.metrics import accuracy_score, precision_score, recall_score, f1_score, confusion_matrix, classification_report</a:t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●"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import tensorflow as tf</a:t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●"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tensorflow.keras import Sequential</a:t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●"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tensorflow.keras.layers import Dense, Input</a:t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●"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tensorflow.keras.metrics import Recall</a:t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●"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keras_tuner import RandomSearch, Objective</a:t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●"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keras_tuner.tuners import RandomSearch</a:t>
            </a:r>
            <a:endParaRPr sz="13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394450" y="1261500"/>
            <a:ext cx="4497900" cy="4248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-377825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350"/>
              <a:buChar char="●"/>
            </a:pPr>
            <a:r>
              <a:rPr lang="en-US" sz="2350">
                <a:solidFill>
                  <a:schemeClr val="lt1"/>
                </a:solidFill>
              </a:rPr>
              <a:t>Breast cancer is the one of the most common cancer cases among women worldwide, and a leading cause of cancer-related deaths among women in the U.S</a:t>
            </a:r>
            <a:endParaRPr sz="2350">
              <a:solidFill>
                <a:schemeClr val="lt1"/>
              </a:solidFill>
            </a:endParaRPr>
          </a:p>
          <a:p>
            <a:pPr indent="-3778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50"/>
              <a:buChar char="●"/>
            </a:pPr>
            <a:r>
              <a:rPr lang="en-US" sz="2350">
                <a:solidFill>
                  <a:schemeClr val="lt1"/>
                </a:solidFill>
              </a:rPr>
              <a:t>Makes up for ⅓ of all new cancer diagnosis in women each year(Source: </a:t>
            </a:r>
            <a:r>
              <a:rPr lang="en-US" sz="2350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American Cancer Society</a:t>
            </a:r>
            <a:r>
              <a:rPr lang="en-US" sz="2350">
                <a:solidFill>
                  <a:schemeClr val="lt1"/>
                </a:solidFill>
              </a:rPr>
              <a:t>)</a:t>
            </a:r>
            <a:endParaRPr sz="235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35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350">
              <a:solidFill>
                <a:schemeClr val="lt1"/>
              </a:solidFill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350">
              <a:solidFill>
                <a:schemeClr val="lt1"/>
              </a:solidFill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394447" y="594763"/>
            <a:ext cx="8904828" cy="49583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46024" y="106117"/>
            <a:ext cx="845976" cy="84597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0" y="6177265"/>
            <a:ext cx="7211683" cy="58807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A9DB"/>
              </a:buClr>
              <a:buSzPct val="100000"/>
              <a:buFont typeface="Calibri"/>
              <a:buNone/>
            </a:pPr>
            <a:r>
              <a:rPr b="1" i="0" lang="en-US" sz="3000" u="none" cap="none" strike="noStrike">
                <a:solidFill>
                  <a:srgbClr val="8DA9DB"/>
                </a:solidFill>
                <a:latin typeface="Calibri"/>
                <a:ea typeface="Calibri"/>
                <a:cs typeface="Calibri"/>
                <a:sym typeface="Calibri"/>
              </a:rPr>
              <a:t>UC Riverside, ECE 16 Data Science for Engineering Applications</a:t>
            </a:r>
            <a:endParaRPr b="0" i="0" sz="3000" u="none" cap="none" strike="noStrike">
              <a:solidFill>
                <a:srgbClr val="8DA9D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4125" y="284325"/>
            <a:ext cx="5851899" cy="559714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 txBox="1"/>
          <p:nvPr/>
        </p:nvSpPr>
        <p:spPr>
          <a:xfrm>
            <a:off x="5348975" y="5881475"/>
            <a:ext cx="6142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A comprehensive epidemiological analysis of breast cancer in the Eastern Province of Saudi Arabia - Scientific Figure on ResearchGate.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d5edadb24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Issue: Accuracy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0" name="Google Shape;120;g3ad5edadb24_0_15"/>
          <p:cNvSpPr txBox="1"/>
          <p:nvPr>
            <p:ph idx="1" type="body"/>
          </p:nvPr>
        </p:nvSpPr>
        <p:spPr>
          <a:xfrm>
            <a:off x="915350" y="1470675"/>
            <a:ext cx="10515600" cy="43512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00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Char char="•"/>
            </a:pPr>
            <a:r>
              <a:rPr lang="en-US" sz="2700">
                <a:solidFill>
                  <a:schemeClr val="lt1"/>
                </a:solidFill>
              </a:rPr>
              <a:t>Current cancer screening methods such as mammography and ultrasounds, provide early detection, yet pose major </a:t>
            </a:r>
            <a:r>
              <a:rPr b="1" lang="en-US" sz="2700">
                <a:solidFill>
                  <a:schemeClr val="lt1"/>
                </a:solidFill>
              </a:rPr>
              <a:t>limitations</a:t>
            </a:r>
            <a:r>
              <a:rPr lang="en-US" sz="2700">
                <a:solidFill>
                  <a:schemeClr val="lt1"/>
                </a:solidFill>
              </a:rPr>
              <a:t>:</a:t>
            </a:r>
            <a:endParaRPr sz="2700">
              <a:solidFill>
                <a:schemeClr val="lt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Char char="•"/>
            </a:pPr>
            <a:r>
              <a:rPr b="1" lang="en-US" sz="2700">
                <a:solidFill>
                  <a:schemeClr val="lt1"/>
                </a:solidFill>
              </a:rPr>
              <a:t>False positives </a:t>
            </a:r>
            <a:r>
              <a:rPr lang="en-US" sz="2700">
                <a:solidFill>
                  <a:schemeClr val="lt1"/>
                </a:solidFill>
              </a:rPr>
              <a:t>cause patient anxiety and financial burden</a:t>
            </a:r>
            <a:endParaRPr sz="2700">
              <a:solidFill>
                <a:schemeClr val="lt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Char char="•"/>
            </a:pPr>
            <a:r>
              <a:rPr b="1" lang="en-US" sz="2700">
                <a:solidFill>
                  <a:schemeClr val="lt1"/>
                </a:solidFill>
              </a:rPr>
              <a:t>False-negatives </a:t>
            </a:r>
            <a:r>
              <a:rPr lang="en-US" sz="2700">
                <a:solidFill>
                  <a:schemeClr val="lt1"/>
                </a:solidFill>
              </a:rPr>
              <a:t>can dangerously delay diagnosis and treatment.</a:t>
            </a:r>
            <a:endParaRPr sz="2700">
              <a:solidFill>
                <a:schemeClr val="lt1"/>
              </a:solidFill>
            </a:endParaRPr>
          </a:p>
          <a:p>
            <a:pPr indent="-4000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Char char="•"/>
            </a:pPr>
            <a:r>
              <a:rPr lang="en-US" sz="2700">
                <a:solidFill>
                  <a:schemeClr val="lt1"/>
                </a:solidFill>
              </a:rPr>
              <a:t>Mammograms miss about</a:t>
            </a:r>
            <a:r>
              <a:rPr b="1" lang="en-US" sz="2700">
                <a:solidFill>
                  <a:schemeClr val="lt1"/>
                </a:solidFill>
              </a:rPr>
              <a:t> 1 in 8</a:t>
            </a:r>
            <a:r>
              <a:rPr lang="en-US" sz="2700">
                <a:solidFill>
                  <a:schemeClr val="lt1"/>
                </a:solidFill>
              </a:rPr>
              <a:t> breast cancers.(</a:t>
            </a:r>
            <a:r>
              <a:rPr lang="en-US" sz="2700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American Cancer Society</a:t>
            </a:r>
            <a:r>
              <a:rPr lang="en-US" sz="2700">
                <a:solidFill>
                  <a:schemeClr val="lt1"/>
                </a:solidFill>
              </a:rPr>
              <a:t>)</a:t>
            </a:r>
            <a:endParaRPr sz="2700">
              <a:solidFill>
                <a:schemeClr val="lt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Calibri"/>
              <a:buChar char="•"/>
            </a:pPr>
            <a:r>
              <a:rPr lang="en-US" sz="2700">
                <a:solidFill>
                  <a:schemeClr val="lt1"/>
                </a:solidFill>
              </a:rPr>
              <a:t> The ability to accurately classify breast tumors as benign or malignant early on is crucial for improving survival rates and patient well-being.</a:t>
            </a:r>
            <a:endParaRPr sz="2700">
              <a:solidFill>
                <a:schemeClr val="lt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d5edadb24_0_38"/>
          <p:cNvSpPr txBox="1"/>
          <p:nvPr>
            <p:ph type="title"/>
          </p:nvPr>
        </p:nvSpPr>
        <p:spPr>
          <a:xfrm>
            <a:off x="838200" y="282375"/>
            <a:ext cx="10515600" cy="1085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Data Exploration: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7" name="Google Shape;127;g3ad5edadb24_0_38"/>
          <p:cNvSpPr txBox="1"/>
          <p:nvPr>
            <p:ph idx="1" type="body"/>
          </p:nvPr>
        </p:nvSpPr>
        <p:spPr>
          <a:xfrm>
            <a:off x="838200" y="1550250"/>
            <a:ext cx="10515600" cy="34371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</a:pPr>
            <a:r>
              <a:rPr lang="en-US" sz="2500">
                <a:solidFill>
                  <a:schemeClr val="lt1"/>
                </a:solidFill>
              </a:rPr>
              <a:t>Using tabular data(</a:t>
            </a:r>
            <a:r>
              <a:rPr b="1" lang="en-US" sz="2500">
                <a:solidFill>
                  <a:schemeClr val="lt1"/>
                </a:solidFill>
              </a:rPr>
              <a:t>Mass Case Description Set</a:t>
            </a:r>
            <a:r>
              <a:rPr lang="en-US" sz="2500">
                <a:solidFill>
                  <a:schemeClr val="lt1"/>
                </a:solidFill>
              </a:rPr>
              <a:t>) from:</a:t>
            </a:r>
            <a:r>
              <a:rPr lang="en-US" sz="2500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-US" sz="2500" u="sng">
                <a:solidFill>
                  <a:schemeClr val="l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CBIS-DDSM</a:t>
            </a:r>
            <a:r>
              <a:rPr lang="en-US" sz="2500" u="sng">
                <a:solidFill>
                  <a:schemeClr val="lt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(Curated Breast Imaging Subset of the Digital Database for Screening Mammography)</a:t>
            </a:r>
            <a:endParaRPr sz="2500" u="sng">
              <a:solidFill>
                <a:schemeClr val="lt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</a:pPr>
            <a:r>
              <a:rPr lang="en-US" sz="2100">
                <a:solidFill>
                  <a:schemeClr val="lt1"/>
                </a:solidFill>
              </a:rPr>
              <a:t>updated version of the DDSM</a:t>
            </a:r>
            <a:endParaRPr sz="2100">
              <a:solidFill>
                <a:schemeClr val="lt1"/>
              </a:solidFill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•"/>
            </a:pPr>
            <a:r>
              <a:rPr lang="en-US" sz="2100">
                <a:solidFill>
                  <a:schemeClr val="lt1"/>
                </a:solidFill>
              </a:rPr>
              <a:t>makes it public, curated, and standardized for ”evaluation of future computer-aided diagnosis-CADx and detection-CADe systems.”</a:t>
            </a:r>
            <a:endParaRPr sz="2100">
              <a:solidFill>
                <a:schemeClr val="lt1"/>
              </a:solidFill>
            </a:endParaRPr>
          </a:p>
          <a:p>
            <a:pPr indent="0" lvl="0" marL="13716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</a:pPr>
            <a:r>
              <a:rPr lang="en-US" sz="2500">
                <a:solidFill>
                  <a:schemeClr val="lt1"/>
                </a:solidFill>
              </a:rPr>
              <a:t>C</a:t>
            </a:r>
            <a:r>
              <a:rPr lang="en-US" sz="2500">
                <a:solidFill>
                  <a:schemeClr val="lt1"/>
                </a:solidFill>
              </a:rPr>
              <a:t>ontains 892 total breast cancer samples </a:t>
            </a:r>
            <a:endParaRPr sz="2500">
              <a:solidFill>
                <a:schemeClr val="lt1"/>
              </a:solidFill>
            </a:endParaRPr>
          </a:p>
          <a:p>
            <a:pPr indent="-323850" lvl="1" marL="91440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</a:pPr>
            <a:r>
              <a:rPr lang="en-US" sz="2100">
                <a:solidFill>
                  <a:schemeClr val="lt1"/>
                </a:solidFill>
              </a:rPr>
              <a:t>691 for training and 201 for testing</a:t>
            </a:r>
            <a:endParaRPr sz="21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d5edadb24_0_10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Data Exploration: Tabular Features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4" name="Google Shape;134;g3ad5edadb24_0_106"/>
          <p:cNvSpPr txBox="1"/>
          <p:nvPr>
            <p:ph idx="1" type="body"/>
          </p:nvPr>
        </p:nvSpPr>
        <p:spPr>
          <a:xfrm>
            <a:off x="838200" y="1825625"/>
            <a:ext cx="4731600" cy="43512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b="1" lang="en-US" sz="2000">
                <a:solidFill>
                  <a:schemeClr val="lt1"/>
                </a:solidFill>
              </a:rPr>
              <a:t>breast density</a:t>
            </a:r>
            <a:r>
              <a:rPr lang="en-US" sz="2000">
                <a:solidFill>
                  <a:schemeClr val="lt1"/>
                </a:solidFill>
              </a:rPr>
              <a:t>(range 1-4)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b="1" lang="en-US" sz="2000">
                <a:solidFill>
                  <a:schemeClr val="lt1"/>
                </a:solidFill>
              </a:rPr>
              <a:t>left or right breast</a:t>
            </a:r>
            <a:endParaRPr b="1" sz="2000"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b="1" lang="en-US" sz="2000">
                <a:solidFill>
                  <a:schemeClr val="lt1"/>
                </a:solidFill>
              </a:rPr>
              <a:t>image view</a:t>
            </a:r>
            <a:endParaRPr b="1" sz="20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○"/>
            </a:pPr>
            <a:r>
              <a:rPr lang="en-US" sz="1800">
                <a:solidFill>
                  <a:schemeClr val="lt1"/>
                </a:solidFill>
              </a:rPr>
              <a:t>(</a:t>
            </a:r>
            <a:r>
              <a:rPr b="1" lang="en-US" sz="1800">
                <a:solidFill>
                  <a:schemeClr val="lt1"/>
                </a:solidFill>
              </a:rPr>
              <a:t>CC</a:t>
            </a:r>
            <a:r>
              <a:rPr lang="en-US" sz="1800">
                <a:solidFill>
                  <a:schemeClr val="lt1"/>
                </a:solidFill>
              </a:rPr>
              <a:t> (craniocaudal, or overhead angle)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○"/>
            </a:pPr>
            <a:r>
              <a:rPr b="1" lang="en-US" sz="1800">
                <a:solidFill>
                  <a:schemeClr val="lt1"/>
                </a:solidFill>
              </a:rPr>
              <a:t>MLO</a:t>
            </a:r>
            <a:r>
              <a:rPr lang="en-US" sz="1800">
                <a:solidFill>
                  <a:schemeClr val="lt1"/>
                </a:solidFill>
              </a:rPr>
              <a:t> (mediolateral oblique, or side angle))</a:t>
            </a:r>
            <a:endParaRPr sz="1800"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b="1" lang="en-US" sz="2000">
                <a:solidFill>
                  <a:schemeClr val="lt1"/>
                </a:solidFill>
              </a:rPr>
              <a:t>abnormality id</a:t>
            </a:r>
            <a:r>
              <a:rPr lang="en-US" sz="2000">
                <a:solidFill>
                  <a:schemeClr val="lt1"/>
                </a:solidFill>
              </a:rPr>
              <a:t>(1-6)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b="1" lang="en-US" sz="2000">
                <a:solidFill>
                  <a:schemeClr val="lt1"/>
                </a:solidFill>
              </a:rPr>
              <a:t>abnormality type</a:t>
            </a:r>
            <a:r>
              <a:rPr lang="en-US" sz="2000">
                <a:solidFill>
                  <a:schemeClr val="lt1"/>
                </a:solidFill>
              </a:rPr>
              <a:t>(mass)</a:t>
            </a:r>
            <a:endParaRPr sz="20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ad5edadb24_0_106"/>
          <p:cNvSpPr txBox="1"/>
          <p:nvPr/>
        </p:nvSpPr>
        <p:spPr>
          <a:xfrm>
            <a:off x="6129250" y="1730775"/>
            <a:ext cx="4971000" cy="3656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•"/>
            </a:pP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mass shape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can be one or combination of the following: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oval, round, irregular, lobulated, architectural distortion, lymph node, focal asymmetric density, asymmetric breast tissue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•"/>
            </a:pP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mass margins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can be one or combination of the following: 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spiculated, ill defined, circumscribed, obscured, microlobulated)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•"/>
            </a:pP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(0-6)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•"/>
            </a:pP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pathology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(malignant, benign, benign without callback)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•"/>
            </a:pP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subtlety(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0-5)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" name="Google Shape;141;g3ad5edadb24_0_49"/>
          <p:cNvGraphicFramePr/>
          <p:nvPr/>
        </p:nvGraphicFramePr>
        <p:xfrm>
          <a:off x="-50" y="-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{FF1F202D-FF9B-4914-88D8-CDAD4D17DFF4}</a:tableStyleId>
              </a:tblPr>
              <a:tblGrid>
                <a:gridCol w="1108375"/>
                <a:gridCol w="1108375"/>
                <a:gridCol w="1108375"/>
                <a:gridCol w="1108375"/>
                <a:gridCol w="1108375"/>
                <a:gridCol w="1108375"/>
                <a:gridCol w="1108375"/>
                <a:gridCol w="1108375"/>
                <a:gridCol w="1108375"/>
                <a:gridCol w="1108375"/>
                <a:gridCol w="1108375"/>
              </a:tblGrid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patient_id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breast_density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left or right breast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image view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abnormality id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abnormality type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mass shape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mass margins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assessment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pathology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subtlety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</a:tr>
              <a:tr h="517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P_00001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3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LEFT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CC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1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mass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IRREGULAR-ARCHITECTURAL_DISTORTION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SPICULATED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4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MALIGNANT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4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P_00001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3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LEFT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MLO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1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mass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IRREGULAR-ARCHITECTURAL_DISTORTION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SPICULATED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4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MALIGNANT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4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P_00004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3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LEFT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CC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1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mass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ARCHITECTURAL_DISTORTION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ILL_DEFINED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4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BENIGN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3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7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P_00004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3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LEFT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MLO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1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mass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ARCHITECTURAL_DISTORTION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ILL_DEFINED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4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BENIGN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3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P_00004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3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RIGHT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MLO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1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mass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OVAL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CIRCUMSCRIBED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4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BENIGN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5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P_00009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3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RIGHT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CC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1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mass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OVAL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ILL_DEFINED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4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MALIGNANT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4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P_00009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3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RIGHT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MLO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1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mass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OVAL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ILL_DEFINED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4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MALIGNANT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4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P_00015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3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LEFT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MLO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1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mass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IRREGULAR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ILL_DEFINED-SPICULATED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4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MALIGNANT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4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P_00018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2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RIGHT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CC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1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mass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OVAL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CIRCUMSCRIBED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4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BENIGN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5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P_00018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2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RIGHT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MLO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1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mass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OVAL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CIRCUMSCRIBED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4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BENIGN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5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P_00021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1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LEFT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CC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1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mass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OVAL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CIRCUMSCRIBED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3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BENIGN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5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P_00021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1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LEFT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MLO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1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mass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OVAL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CIRCUMSCRIBED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3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BENIGN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5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P_00021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1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RIGHT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CC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1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mass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OVAL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CIRCUMSCRIBED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3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BENIGN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5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/>
                        <a:t>P_00021</a:t>
                      </a:r>
                      <a:endParaRPr b="1"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1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RIGHT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MLO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1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mass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OVAL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CIRCUMSCRIBED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3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BENIGN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50"/>
                        <a:t>5</a:t>
                      </a:r>
                      <a:endParaRPr sz="850"/>
                    </a:p>
                  </a:txBody>
                  <a:tcPr marT="38100" marB="38100" marR="38100" marL="381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d5edadb24_0_60"/>
          <p:cNvSpPr txBox="1"/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Data Cleaning/Preprocessing: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8" name="Google Shape;148;g3ad5edadb24_0_60"/>
          <p:cNvSpPr txBox="1"/>
          <p:nvPr>
            <p:ph idx="1" type="body"/>
          </p:nvPr>
        </p:nvSpPr>
        <p:spPr>
          <a:xfrm>
            <a:off x="838200" y="1325700"/>
            <a:ext cx="5906100" cy="43512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Dropped rows with missing values (N/A)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Kept all numerical features  ⇒ ⇒ ⇒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 sz="2050">
                <a:solidFill>
                  <a:schemeClr val="lt1"/>
                </a:solidFill>
              </a:rPr>
              <a:t>Performed Chi-Square on categorical features</a:t>
            </a:r>
            <a:endParaRPr sz="205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 sz="2050">
                <a:solidFill>
                  <a:schemeClr val="lt1"/>
                </a:solidFill>
              </a:rPr>
              <a:t>Selected categorical features: </a:t>
            </a:r>
            <a:r>
              <a:rPr b="1" lang="en-US" sz="2050">
                <a:solidFill>
                  <a:schemeClr val="lt1"/>
                </a:solidFill>
              </a:rPr>
              <a:t>mass shape, mass margins, pathology</a:t>
            </a:r>
            <a:endParaRPr b="1" sz="2050">
              <a:solidFill>
                <a:schemeClr val="lt1"/>
              </a:solidFill>
            </a:endParaRPr>
          </a:p>
          <a:p>
            <a:pPr indent="-358775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50"/>
              <a:buChar char="•"/>
            </a:pPr>
            <a:r>
              <a:rPr lang="en-US" sz="2050">
                <a:solidFill>
                  <a:schemeClr val="lt1"/>
                </a:solidFill>
              </a:rPr>
              <a:t>p-value = 0.0</a:t>
            </a:r>
            <a:endParaRPr sz="2050">
              <a:solidFill>
                <a:schemeClr val="lt1"/>
              </a:solidFill>
            </a:endParaRPr>
          </a:p>
          <a:p>
            <a:pPr indent="-35877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50"/>
              <a:buChar char="•"/>
            </a:pPr>
            <a:r>
              <a:rPr lang="en-US" sz="2050">
                <a:solidFill>
                  <a:schemeClr val="lt1"/>
                </a:solidFill>
              </a:rPr>
              <a:t>Converted categorical features to numerical features:</a:t>
            </a:r>
            <a:endParaRPr sz="2050">
              <a:solidFill>
                <a:schemeClr val="lt1"/>
              </a:solidFill>
            </a:endParaRPr>
          </a:p>
          <a:p>
            <a:pPr indent="-35877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50"/>
              <a:buChar char="•"/>
            </a:pPr>
            <a:r>
              <a:rPr b="1" lang="en-US" sz="2050">
                <a:solidFill>
                  <a:schemeClr val="lt1"/>
                </a:solidFill>
              </a:rPr>
              <a:t>one-hot encoding </a:t>
            </a:r>
            <a:r>
              <a:rPr lang="en-US" sz="2050">
                <a:solidFill>
                  <a:schemeClr val="lt1"/>
                </a:solidFill>
              </a:rPr>
              <a:t>for </a:t>
            </a:r>
            <a:r>
              <a:rPr b="1" lang="en-US" sz="2050">
                <a:solidFill>
                  <a:schemeClr val="lt1"/>
                </a:solidFill>
              </a:rPr>
              <a:t>pathology</a:t>
            </a:r>
            <a:r>
              <a:rPr lang="en-US" sz="2050">
                <a:solidFill>
                  <a:schemeClr val="lt1"/>
                </a:solidFill>
              </a:rPr>
              <a:t> columns(single labels)</a:t>
            </a:r>
            <a:endParaRPr sz="2050">
              <a:solidFill>
                <a:schemeClr val="lt1"/>
              </a:solidFill>
            </a:endParaRPr>
          </a:p>
          <a:p>
            <a:pPr indent="-358775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50"/>
              <a:buChar char="•"/>
            </a:pPr>
            <a:r>
              <a:rPr b="1" lang="en-US" sz="2050">
                <a:solidFill>
                  <a:schemeClr val="lt1"/>
                </a:solidFill>
              </a:rPr>
              <a:t>multi-label binarization</a:t>
            </a:r>
            <a:r>
              <a:rPr lang="en-US" sz="2050">
                <a:solidFill>
                  <a:schemeClr val="lt1"/>
                </a:solidFill>
              </a:rPr>
              <a:t> for </a:t>
            </a:r>
            <a:r>
              <a:rPr b="1" lang="en-US" sz="2050">
                <a:solidFill>
                  <a:schemeClr val="lt1"/>
                </a:solidFill>
              </a:rPr>
              <a:t>mass </a:t>
            </a:r>
            <a:r>
              <a:rPr b="1" lang="en-US" sz="2050">
                <a:solidFill>
                  <a:schemeClr val="lt1"/>
                </a:solidFill>
              </a:rPr>
              <a:t>shape</a:t>
            </a:r>
            <a:r>
              <a:rPr lang="en-US" sz="2050">
                <a:solidFill>
                  <a:schemeClr val="lt1"/>
                </a:solidFill>
              </a:rPr>
              <a:t> and </a:t>
            </a:r>
            <a:r>
              <a:rPr b="1" lang="en-US" sz="2050">
                <a:solidFill>
                  <a:schemeClr val="lt1"/>
                </a:solidFill>
              </a:rPr>
              <a:t>mass margins</a:t>
            </a:r>
            <a:r>
              <a:rPr lang="en-US" sz="2050">
                <a:solidFill>
                  <a:schemeClr val="lt1"/>
                </a:solidFill>
              </a:rPr>
              <a:t>(multiple labels, can be one of combination of them)</a:t>
            </a:r>
            <a:endParaRPr sz="2050">
              <a:solidFill>
                <a:schemeClr val="lt1"/>
              </a:solidFill>
            </a:endParaRPr>
          </a:p>
          <a:p>
            <a:pPr indent="-358775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50"/>
              <a:buChar char="•"/>
            </a:pPr>
            <a:r>
              <a:rPr lang="en-US" sz="2050">
                <a:solidFill>
                  <a:schemeClr val="lt1"/>
                </a:solidFill>
              </a:rPr>
              <a:t>separated labels into separate columns</a:t>
            </a:r>
            <a:endParaRPr sz="2050">
              <a:solidFill>
                <a:schemeClr val="lt1"/>
              </a:solidFill>
            </a:endParaRPr>
          </a:p>
        </p:txBody>
      </p:sp>
      <p:sp>
        <p:nvSpPr>
          <p:cNvPr id="149" name="Google Shape;149;g3ad5edadb24_0_60"/>
          <p:cNvSpPr txBox="1"/>
          <p:nvPr/>
        </p:nvSpPr>
        <p:spPr>
          <a:xfrm>
            <a:off x="6883213" y="1325700"/>
            <a:ext cx="5216400" cy="354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Calculated correlation between numerical features: </a:t>
            </a:r>
            <a:r>
              <a:rPr b="1"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breast density, abnormality id, assessment, subtlety</a:t>
            </a:r>
            <a:endParaRPr b="1"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g3ad5edadb24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225" y="2339925"/>
            <a:ext cx="4709126" cy="371899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51" name="Google Shape;151;g3ad5edadb24_0_60"/>
          <p:cNvSpPr txBox="1"/>
          <p:nvPr/>
        </p:nvSpPr>
        <p:spPr>
          <a:xfrm>
            <a:off x="7006825" y="6058925"/>
            <a:ext cx="4969200" cy="432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two numerical features are strongly correlated with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each other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features all independent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7" name="Google Shape;157;g3ad5edadb24_0_70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{FF1F202D-FF9B-4914-88D8-CDAD4D17DFF4}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160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chemeClr val="dk1"/>
                          </a:solidFill>
                        </a:rPr>
                        <a:t>patient_id</a:t>
                      </a:r>
                      <a:endParaRPr b="1" sz="9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chemeClr val="dk1"/>
                          </a:solidFill>
                        </a:rPr>
                        <a:t>breast_density</a:t>
                      </a:r>
                      <a:endParaRPr b="1" sz="9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chemeClr val="dk1"/>
                          </a:solidFill>
                        </a:rPr>
                        <a:t>abnormality id</a:t>
                      </a:r>
                      <a:endParaRPr b="1" sz="9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chemeClr val="dk1"/>
                          </a:solidFill>
                        </a:rPr>
                        <a:t>assessment</a:t>
                      </a:r>
                      <a:endParaRPr b="1" sz="9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chemeClr val="dk1"/>
                          </a:solidFill>
                        </a:rPr>
                        <a:t>subtlety</a:t>
                      </a:r>
                      <a:endParaRPr b="1" sz="9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chemeClr val="dk1"/>
                          </a:solidFill>
                        </a:rPr>
                        <a:t>pathology_BENIGN</a:t>
                      </a:r>
                      <a:endParaRPr b="1" sz="9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chemeClr val="dk1"/>
                          </a:solidFill>
                        </a:rPr>
                        <a:t>pathology_BENIGN_WITHOUT_CALLBACK</a:t>
                      </a:r>
                      <a:endParaRPr b="1" sz="9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chemeClr val="dk1"/>
                          </a:solidFill>
                        </a:rPr>
                        <a:t>pathology_MALIGNANT</a:t>
                      </a:r>
                      <a:endParaRPr b="1" sz="9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chemeClr val="dk1"/>
                          </a:solidFill>
                        </a:rPr>
                        <a:t>shape_is_ARCHITECTURAL_DISTORTION</a:t>
                      </a:r>
                      <a:endParaRPr b="1" sz="9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chemeClr val="dk1"/>
                          </a:solidFill>
                        </a:rPr>
                        <a:t>shape_is_ASYMMETRIC_BREAST_TISSUE</a:t>
                      </a:r>
                      <a:endParaRPr b="1" sz="9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chemeClr val="dk1"/>
                          </a:solidFill>
                        </a:rPr>
                        <a:t>shape_is_FOCAL_ASYMMETRIC_DENSITY</a:t>
                      </a:r>
                      <a:endParaRPr b="1" sz="9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chemeClr val="dk1"/>
                          </a:solidFill>
                        </a:rPr>
                        <a:t>shape_is_IRREGULAR</a:t>
                      </a:r>
                      <a:endParaRPr b="1" sz="9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chemeClr val="dk1"/>
                          </a:solidFill>
                        </a:rPr>
                        <a:t>shape_is_LOBULATED</a:t>
                      </a:r>
                      <a:endParaRPr b="1" sz="9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chemeClr val="dk1"/>
                          </a:solidFill>
                        </a:rPr>
                        <a:t>shape_is_LYMPH_NODE</a:t>
                      </a:r>
                      <a:endParaRPr b="1" sz="9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chemeClr val="dk1"/>
                          </a:solidFill>
                        </a:rPr>
                        <a:t>shape_is_OVAL</a:t>
                      </a:r>
                      <a:endParaRPr b="1" sz="9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0B3B2"/>
                    </a:solidFill>
                  </a:tcPr>
                </a:tc>
              </a:tr>
              <a:tr h="434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P_00001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3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1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4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4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True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1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1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P_00001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3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1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4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4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True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1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1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P_00004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3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1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4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3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True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1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P_00004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3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1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4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3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True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1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P_00004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3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1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4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5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True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1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chemeClr val="dk1"/>
                          </a:solidFill>
                        </a:rPr>
                        <a:t>...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...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...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...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...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...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...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...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...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...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...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...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...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...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...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...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8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chemeClr val="dk1"/>
                          </a:solidFill>
                        </a:rPr>
                        <a:t>1268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P_02033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2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1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3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4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True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1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chemeClr val="dk1"/>
                          </a:solidFill>
                        </a:rPr>
                        <a:t>1269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P_02079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2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1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3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5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True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chemeClr val="dk1"/>
                          </a:solidFill>
                        </a:rPr>
                        <a:t>1270</a:t>
                      </a:r>
                      <a:endParaRPr b="1"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P_02079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2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1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3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5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False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True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chemeClr val="dk1"/>
                          </a:solidFill>
                        </a:rPr>
                        <a:t>0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66675" marB="66675" marR="66675" marL="666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d5edadb24_0_78"/>
          <p:cNvSpPr txBox="1"/>
          <p:nvPr>
            <p:ph type="title"/>
          </p:nvPr>
        </p:nvSpPr>
        <p:spPr>
          <a:xfrm>
            <a:off x="452375" y="0"/>
            <a:ext cx="10515600" cy="873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Plots: Boxplot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64" name="Google Shape;164;g3ad5edadb24_0_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2846" y="365125"/>
            <a:ext cx="5279429" cy="60009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65" name="Google Shape;165;g3ad5edadb24_0_78"/>
          <p:cNvSpPr txBox="1"/>
          <p:nvPr/>
        </p:nvSpPr>
        <p:spPr>
          <a:xfrm>
            <a:off x="540125" y="709925"/>
            <a:ext cx="5987400" cy="5085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Visualizes assessment</a:t>
            </a: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(BI RADS)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scores for train dataset. 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●"/>
            </a:pP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Scores range from</a:t>
            </a: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0-6 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assess risk,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○"/>
            </a:pP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0: incomplete exam, 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○"/>
            </a:pP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1: no cancer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○"/>
            </a:pP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5: highly suggestive of cancer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○"/>
            </a:pP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6: known biopsy-proven cancer.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●"/>
            </a:pP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Benign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○"/>
            </a:pP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Outlier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at 0, </a:t>
            </a: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minimum 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 2,</a:t>
            </a: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median 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 3.5, and </a:t>
            </a: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maximum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at 5 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●"/>
            </a:pP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Benign without callback:</a:t>
            </a:r>
            <a:endParaRPr b="1"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○"/>
            </a:pP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outliers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minimum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at 2, </a:t>
            </a: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median 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 2.5, and </a:t>
            </a: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maximum 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 4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●"/>
            </a:pP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Malignant:</a:t>
            </a:r>
            <a:endParaRPr b="1"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○"/>
            </a:pP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Outliers 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 0 and 1, </a:t>
            </a: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minimum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at 3, </a:t>
            </a: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median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at 4.5, and </a:t>
            </a:r>
            <a:r>
              <a:rPr b="1"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maximum</a:t>
            </a: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at 5.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d5edadb24_0_87"/>
          <p:cNvSpPr txBox="1"/>
          <p:nvPr>
            <p:ph type="title"/>
          </p:nvPr>
        </p:nvSpPr>
        <p:spPr>
          <a:xfrm>
            <a:off x="313475" y="98675"/>
            <a:ext cx="10515600" cy="1325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Plots: Bar Graph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2" name="Google Shape;172;g3ad5edadb24_0_87"/>
          <p:cNvSpPr txBox="1"/>
          <p:nvPr>
            <p:ph idx="1" type="body"/>
          </p:nvPr>
        </p:nvSpPr>
        <p:spPr>
          <a:xfrm>
            <a:off x="0" y="1129225"/>
            <a:ext cx="4016100" cy="43512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9491" lvl="0" marL="45720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76"/>
              <a:buChar char="•"/>
            </a:pPr>
            <a:r>
              <a:rPr lang="en-US" sz="2376">
                <a:solidFill>
                  <a:schemeClr val="lt1"/>
                </a:solidFill>
              </a:rPr>
              <a:t>Masses that are </a:t>
            </a:r>
            <a:r>
              <a:rPr b="1" lang="en-US" sz="2376">
                <a:solidFill>
                  <a:schemeClr val="lt1"/>
                </a:solidFill>
              </a:rPr>
              <a:t>irregular</a:t>
            </a:r>
            <a:r>
              <a:rPr lang="en-US" sz="2376">
                <a:solidFill>
                  <a:schemeClr val="lt1"/>
                </a:solidFill>
              </a:rPr>
              <a:t> or have </a:t>
            </a:r>
            <a:r>
              <a:rPr b="1" lang="en-US" sz="2376">
                <a:solidFill>
                  <a:schemeClr val="lt1"/>
                </a:solidFill>
              </a:rPr>
              <a:t>architecural distortion </a:t>
            </a:r>
            <a:r>
              <a:rPr lang="en-US" sz="2376">
                <a:solidFill>
                  <a:schemeClr val="lt1"/>
                </a:solidFill>
              </a:rPr>
              <a:t>are most common with </a:t>
            </a:r>
            <a:r>
              <a:rPr b="1" lang="en-US" sz="2376">
                <a:solidFill>
                  <a:schemeClr val="lt1"/>
                </a:solidFill>
              </a:rPr>
              <a:t>malignancy</a:t>
            </a:r>
            <a:endParaRPr sz="2376">
              <a:solidFill>
                <a:schemeClr val="lt1"/>
              </a:solidFill>
            </a:endParaRPr>
          </a:p>
          <a:p>
            <a:pPr indent="-379491" lvl="0" marL="45720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76"/>
              <a:buChar char="•"/>
            </a:pPr>
            <a:r>
              <a:rPr lang="en-US" sz="2376">
                <a:solidFill>
                  <a:schemeClr val="lt1"/>
                </a:solidFill>
              </a:rPr>
              <a:t>Masses that are </a:t>
            </a:r>
            <a:r>
              <a:rPr b="1" lang="en-US" sz="2376">
                <a:solidFill>
                  <a:schemeClr val="lt1"/>
                </a:solidFill>
              </a:rPr>
              <a:t>oval </a:t>
            </a:r>
            <a:r>
              <a:rPr lang="en-US" sz="2376">
                <a:solidFill>
                  <a:schemeClr val="lt1"/>
                </a:solidFill>
              </a:rPr>
              <a:t> and </a:t>
            </a:r>
            <a:r>
              <a:rPr b="1" lang="en-US" sz="2376">
                <a:solidFill>
                  <a:schemeClr val="lt1"/>
                </a:solidFill>
              </a:rPr>
              <a:t>lobulated</a:t>
            </a:r>
            <a:r>
              <a:rPr lang="en-US" sz="2376">
                <a:solidFill>
                  <a:schemeClr val="lt1"/>
                </a:solidFill>
              </a:rPr>
              <a:t> shape account for majority of </a:t>
            </a:r>
            <a:r>
              <a:rPr b="1" lang="en-US" sz="2376">
                <a:solidFill>
                  <a:schemeClr val="lt1"/>
                </a:solidFill>
              </a:rPr>
              <a:t>benign</a:t>
            </a:r>
            <a:r>
              <a:rPr lang="en-US" sz="2376">
                <a:solidFill>
                  <a:schemeClr val="lt1"/>
                </a:solidFill>
              </a:rPr>
              <a:t> cases. </a:t>
            </a:r>
            <a:endParaRPr sz="2376">
              <a:solidFill>
                <a:schemeClr val="lt1"/>
              </a:solidFill>
            </a:endParaRPr>
          </a:p>
          <a:p>
            <a:pPr indent="-379491" lvl="0" marL="45720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76"/>
              <a:buChar char="•"/>
            </a:pPr>
            <a:r>
              <a:rPr b="1" lang="en-US" sz="2376">
                <a:solidFill>
                  <a:schemeClr val="lt1"/>
                </a:solidFill>
              </a:rPr>
              <a:t>R</a:t>
            </a:r>
            <a:r>
              <a:rPr b="1" lang="en-US" sz="2376">
                <a:solidFill>
                  <a:schemeClr val="lt1"/>
                </a:solidFill>
              </a:rPr>
              <a:t>ound </a:t>
            </a:r>
            <a:r>
              <a:rPr lang="en-US" sz="2376">
                <a:solidFill>
                  <a:schemeClr val="lt1"/>
                </a:solidFill>
              </a:rPr>
              <a:t>masses have similar counts for </a:t>
            </a:r>
            <a:r>
              <a:rPr b="1" lang="en-US" sz="2376">
                <a:solidFill>
                  <a:schemeClr val="lt1"/>
                </a:solidFill>
              </a:rPr>
              <a:t>benign</a:t>
            </a:r>
            <a:r>
              <a:rPr lang="en-US" sz="2376">
                <a:solidFill>
                  <a:schemeClr val="lt1"/>
                </a:solidFill>
              </a:rPr>
              <a:t> and </a:t>
            </a:r>
            <a:r>
              <a:rPr b="1" lang="en-US" sz="2376">
                <a:solidFill>
                  <a:schemeClr val="lt1"/>
                </a:solidFill>
              </a:rPr>
              <a:t>malignant</a:t>
            </a:r>
            <a:r>
              <a:rPr lang="en-US" sz="2376">
                <a:solidFill>
                  <a:schemeClr val="lt1"/>
                </a:solidFill>
              </a:rPr>
              <a:t> masses</a:t>
            </a:r>
            <a:endParaRPr sz="2376">
              <a:solidFill>
                <a:schemeClr val="lt1"/>
              </a:solidFill>
            </a:endParaRPr>
          </a:p>
          <a:p>
            <a:pPr indent="-379491" lvl="0" marL="45720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76"/>
              <a:buChar char="•"/>
            </a:pPr>
            <a:r>
              <a:rPr lang="en-US" sz="2376">
                <a:solidFill>
                  <a:schemeClr val="lt1"/>
                </a:solidFill>
              </a:rPr>
              <a:t>All </a:t>
            </a:r>
            <a:r>
              <a:rPr b="1" lang="en-US" sz="2376">
                <a:solidFill>
                  <a:schemeClr val="lt1"/>
                </a:solidFill>
              </a:rPr>
              <a:t>lymph node</a:t>
            </a:r>
            <a:r>
              <a:rPr lang="en-US" sz="2376">
                <a:solidFill>
                  <a:schemeClr val="lt1"/>
                </a:solidFill>
              </a:rPr>
              <a:t> cases are</a:t>
            </a:r>
            <a:r>
              <a:rPr b="1" lang="en-US" sz="2376">
                <a:solidFill>
                  <a:schemeClr val="lt1"/>
                </a:solidFill>
              </a:rPr>
              <a:t> benign without callback</a:t>
            </a:r>
            <a:endParaRPr sz="3732">
              <a:solidFill>
                <a:schemeClr val="lt1"/>
              </a:solidFill>
            </a:endParaRPr>
          </a:p>
        </p:txBody>
      </p:sp>
      <p:pic>
        <p:nvPicPr>
          <p:cNvPr id="173" name="Google Shape;173;g3ad5edadb24_0_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2325" y="1215150"/>
            <a:ext cx="7921901" cy="49580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d5edadb24_0_9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Machine Learning Model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0" name="Google Shape;180;g3ad5edadb24_0_9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306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960"/>
              <a:buChar char="•"/>
            </a:pPr>
            <a:r>
              <a:rPr lang="en-US" sz="1960">
                <a:solidFill>
                  <a:srgbClr val="FFFFFF"/>
                </a:solidFill>
              </a:rPr>
              <a:t>I want to predict if a mass is a</a:t>
            </a:r>
            <a:r>
              <a:rPr lang="en-US" sz="1960">
                <a:solidFill>
                  <a:srgbClr val="FFFFFF"/>
                </a:solidFill>
              </a:rPr>
              <a:t> </a:t>
            </a:r>
            <a:r>
              <a:rPr b="1" lang="en-US" sz="1960">
                <a:solidFill>
                  <a:srgbClr val="FFFFFF"/>
                </a:solidFill>
              </a:rPr>
              <a:t>malignant</a:t>
            </a:r>
            <a:r>
              <a:rPr lang="en-US" sz="1960">
                <a:solidFill>
                  <a:srgbClr val="FFFFFF"/>
                </a:solidFill>
              </a:rPr>
              <a:t> tumor given the </a:t>
            </a:r>
            <a:r>
              <a:rPr b="1" lang="en-US" sz="1960">
                <a:solidFill>
                  <a:srgbClr val="FFFFFF"/>
                </a:solidFill>
              </a:rPr>
              <a:t>mass features</a:t>
            </a:r>
            <a:r>
              <a:rPr lang="en-US" sz="1960">
                <a:solidFill>
                  <a:srgbClr val="FFFFFF"/>
                </a:solidFill>
              </a:rPr>
              <a:t>(mass shape, mass margins, breast density,</a:t>
            </a:r>
            <a:r>
              <a:rPr b="1" lang="en-US" sz="1960">
                <a:solidFill>
                  <a:srgbClr val="FFFFFF"/>
                </a:solidFill>
              </a:rPr>
              <a:t> </a:t>
            </a:r>
            <a:r>
              <a:rPr lang="en-US" sz="1960">
                <a:solidFill>
                  <a:srgbClr val="FFFFFF"/>
                </a:solidFill>
              </a:rPr>
              <a:t>abnormality id, assessment, subtlety)</a:t>
            </a:r>
            <a:endParaRPr sz="1960">
              <a:solidFill>
                <a:srgbClr val="FFFFFF"/>
              </a:solidFill>
            </a:endParaRPr>
          </a:p>
          <a:p>
            <a:pPr indent="-3530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60"/>
              <a:buChar char="•"/>
            </a:pPr>
            <a:r>
              <a:rPr b="1" lang="en-US" sz="1960">
                <a:solidFill>
                  <a:srgbClr val="FFFFFF"/>
                </a:solidFill>
              </a:rPr>
              <a:t>Probabilistic Classification</a:t>
            </a:r>
            <a:r>
              <a:rPr lang="en-US" sz="1960">
                <a:solidFill>
                  <a:srgbClr val="FFFFFF"/>
                </a:solidFill>
              </a:rPr>
              <a:t>: I used an </a:t>
            </a:r>
            <a:r>
              <a:rPr b="1" lang="en-US" sz="1960">
                <a:solidFill>
                  <a:srgbClr val="FFFFFF"/>
                </a:solidFill>
              </a:rPr>
              <a:t>ANN </a:t>
            </a:r>
            <a:r>
              <a:rPr lang="en-US" sz="1960">
                <a:solidFill>
                  <a:srgbClr val="FFFFFF"/>
                </a:solidFill>
              </a:rPr>
              <a:t>to output the model’s</a:t>
            </a:r>
            <a:r>
              <a:rPr b="1" lang="en-US" sz="1960">
                <a:solidFill>
                  <a:srgbClr val="FFFFFF"/>
                </a:solidFill>
              </a:rPr>
              <a:t> confidence </a:t>
            </a:r>
            <a:r>
              <a:rPr lang="en-US" sz="1960">
                <a:solidFill>
                  <a:srgbClr val="FFFFFF"/>
                </a:solidFill>
              </a:rPr>
              <a:t>that a case is malignant</a:t>
            </a:r>
            <a:endParaRPr sz="1960">
              <a:solidFill>
                <a:srgbClr val="FFFFFF"/>
              </a:solidFill>
            </a:endParaRPr>
          </a:p>
          <a:p>
            <a:pPr indent="-35306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60"/>
              <a:buChar char="•"/>
            </a:pPr>
            <a:r>
              <a:rPr lang="en-US" sz="1960">
                <a:solidFill>
                  <a:srgbClr val="FFFFFF"/>
                </a:solidFill>
              </a:rPr>
              <a:t>Confidence scores are useful because they indicate level of clinical concern</a:t>
            </a:r>
            <a:endParaRPr sz="1960">
              <a:solidFill>
                <a:srgbClr val="FFFFFF"/>
              </a:solidFill>
            </a:endParaRPr>
          </a:p>
          <a:p>
            <a:pPr indent="-323532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95"/>
              <a:buChar char="•"/>
            </a:pPr>
            <a:r>
              <a:rPr b="1" lang="en-US" sz="2270">
                <a:solidFill>
                  <a:srgbClr val="FFFFFF"/>
                </a:solidFill>
              </a:rPr>
              <a:t>Binary conversion</a:t>
            </a:r>
            <a:r>
              <a:rPr lang="en-US" sz="2270">
                <a:solidFill>
                  <a:srgbClr val="FFFFFF"/>
                </a:solidFill>
              </a:rPr>
              <a:t>: Confidence score converted into binary label(0 or 1) for calculating metrics like Accuracy and Recall</a:t>
            </a:r>
            <a:endParaRPr sz="2270">
              <a:solidFill>
                <a:srgbClr val="FFFFFF"/>
              </a:solidFill>
            </a:endParaRPr>
          </a:p>
          <a:p>
            <a:pPr indent="-323532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95"/>
              <a:buChar char="•"/>
            </a:pPr>
            <a:r>
              <a:rPr lang="en-US" sz="1960">
                <a:solidFill>
                  <a:srgbClr val="FFFFFF"/>
                </a:solidFill>
              </a:rPr>
              <a:t>Uses </a:t>
            </a:r>
            <a:r>
              <a:rPr b="1" lang="en-US" sz="1960">
                <a:solidFill>
                  <a:srgbClr val="FFFFFF"/>
                </a:solidFill>
              </a:rPr>
              <a:t>classification threshold</a:t>
            </a:r>
            <a:r>
              <a:rPr lang="en-US" sz="1960">
                <a:solidFill>
                  <a:srgbClr val="FFFFFF"/>
                </a:solidFill>
              </a:rPr>
              <a:t>(If score &gt; 0.5, then label is 1(Malignant))</a:t>
            </a:r>
            <a:endParaRPr sz="1960">
              <a:solidFill>
                <a:srgbClr val="FFFFFF"/>
              </a:solidFill>
            </a:endParaRPr>
          </a:p>
          <a:p>
            <a:pPr indent="-35306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60"/>
              <a:buChar char="•"/>
            </a:pPr>
            <a:r>
              <a:rPr b="1" lang="en-US" sz="1960">
                <a:solidFill>
                  <a:srgbClr val="FFFFFF"/>
                </a:solidFill>
              </a:rPr>
              <a:t>Resampling:</a:t>
            </a:r>
            <a:r>
              <a:rPr lang="en-US" sz="1960">
                <a:solidFill>
                  <a:srgbClr val="FFFFFF"/>
                </a:solidFill>
              </a:rPr>
              <a:t> for class imbalance(more benign data than malignant)</a:t>
            </a:r>
            <a:endParaRPr sz="196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227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7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d5edadb24_0_113"/>
          <p:cNvSpPr txBox="1"/>
          <p:nvPr>
            <p:ph type="title"/>
          </p:nvPr>
        </p:nvSpPr>
        <p:spPr>
          <a:xfrm>
            <a:off x="838200" y="65825"/>
            <a:ext cx="10515600" cy="1325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Hyperparameters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7" name="Google Shape;187;g3ad5edadb24_0_113"/>
          <p:cNvSpPr txBox="1"/>
          <p:nvPr>
            <p:ph idx="1" type="body"/>
          </p:nvPr>
        </p:nvSpPr>
        <p:spPr>
          <a:xfrm>
            <a:off x="838200" y="1187975"/>
            <a:ext cx="10405200" cy="49413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Used</a:t>
            </a:r>
            <a:r>
              <a:rPr b="1" lang="en-US">
                <a:solidFill>
                  <a:srgbClr val="FFFFFF"/>
                </a:solidFill>
              </a:rPr>
              <a:t> Keras Tuner </a:t>
            </a:r>
            <a:r>
              <a:rPr lang="en-US">
                <a:solidFill>
                  <a:srgbClr val="FFFFFF"/>
                </a:solidFill>
              </a:rPr>
              <a:t>to tune hyperparameters by </a:t>
            </a:r>
            <a:r>
              <a:rPr b="1" lang="en-US">
                <a:solidFill>
                  <a:srgbClr val="FFFFFF"/>
                </a:solidFill>
              </a:rPr>
              <a:t>Random Search</a:t>
            </a:r>
            <a:r>
              <a:rPr lang="en-US">
                <a:solidFill>
                  <a:srgbClr val="FFFFFF"/>
                </a:solidFill>
              </a:rPr>
              <a:t> </a:t>
            </a:r>
            <a:endParaRPr>
              <a:solidFill>
                <a:srgbClr val="FFFFFF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Optimizes model for best performance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</a:rPr>
              <a:t>Parameters:</a:t>
            </a:r>
            <a:endParaRPr b="1" sz="32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Learning rate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Optimizer(adam vs. SGD)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Number and size of hidden layers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Activation Functions</a:t>
            </a:r>
            <a:endParaRPr>
              <a:solidFill>
                <a:srgbClr val="FFFFFF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Output layer: </a:t>
            </a:r>
            <a:r>
              <a:rPr b="1" lang="en-US">
                <a:solidFill>
                  <a:srgbClr val="FFFFFF"/>
                </a:solidFill>
              </a:rPr>
              <a:t>Sigmoid</a:t>
            </a:r>
            <a:endParaRPr b="1">
              <a:solidFill>
                <a:srgbClr val="FFFFFF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for probabilistic classification</a:t>
            </a:r>
            <a:endParaRPr>
              <a:solidFill>
                <a:srgbClr val="FFFFFF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Hidden layers: </a:t>
            </a:r>
            <a:r>
              <a:rPr b="1" lang="en-US">
                <a:solidFill>
                  <a:srgbClr val="FFFFFF"/>
                </a:solidFill>
              </a:rPr>
              <a:t>ReLu</a:t>
            </a:r>
            <a:endParaRPr b="1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Objective:</a:t>
            </a:r>
            <a:r>
              <a:rPr b="1" lang="en-US">
                <a:solidFill>
                  <a:srgbClr val="FFFFFF"/>
                </a:solidFill>
              </a:rPr>
              <a:t> maximize recall</a:t>
            </a:r>
            <a:endParaRPr b="1">
              <a:solidFill>
                <a:srgbClr val="FFFFFF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Reduces False Negatives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88" name="Google Shape;188;g3ad5edadb24_0_113"/>
          <p:cNvSpPr txBox="1"/>
          <p:nvPr/>
        </p:nvSpPr>
        <p:spPr>
          <a:xfrm>
            <a:off x="6584400" y="2506800"/>
            <a:ext cx="4659000" cy="4351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Loss Function: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binary_crossentropy</a:t>
            </a:r>
            <a:endParaRPr b="1"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binary classification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Metrics: </a:t>
            </a: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Accuracy and Recall</a:t>
            </a:r>
            <a:endParaRPr b="1"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Tracked during training</a:t>
            </a:r>
            <a:endParaRPr sz="2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d5edadb24_0_127"/>
          <p:cNvSpPr txBox="1"/>
          <p:nvPr>
            <p:ph idx="1" type="body"/>
          </p:nvPr>
        </p:nvSpPr>
        <p:spPr>
          <a:xfrm>
            <a:off x="838200" y="1539325"/>
            <a:ext cx="7316700" cy="50019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3217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5"/>
              <a:buChar char="•"/>
            </a:pPr>
            <a:r>
              <a:rPr b="1" lang="en-US" sz="1804">
                <a:solidFill>
                  <a:srgbClr val="FFFFFF"/>
                </a:solidFill>
              </a:rPr>
              <a:t>Train Accuracy: 83.23%</a:t>
            </a:r>
            <a:r>
              <a:rPr lang="en-US" sz="1804">
                <a:solidFill>
                  <a:srgbClr val="FFFFFF"/>
                </a:solidFill>
              </a:rPr>
              <a:t> of all train predictions were correct</a:t>
            </a:r>
            <a:endParaRPr sz="1804">
              <a:solidFill>
                <a:srgbClr val="FFFFFF"/>
              </a:solidFill>
            </a:endParaRPr>
          </a:p>
          <a:p>
            <a:pPr indent="-3432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5"/>
              <a:buChar char="•"/>
            </a:pPr>
            <a:r>
              <a:rPr b="1" lang="en-US" sz="1804">
                <a:solidFill>
                  <a:srgbClr val="FFFFFF"/>
                </a:solidFill>
              </a:rPr>
              <a:t>Test Accuracy: 76.18% </a:t>
            </a:r>
            <a:r>
              <a:rPr lang="en-US" sz="1804">
                <a:solidFill>
                  <a:srgbClr val="FFFFFF"/>
                </a:solidFill>
              </a:rPr>
              <a:t>of all test predictions were correct</a:t>
            </a:r>
            <a:endParaRPr sz="1804">
              <a:solidFill>
                <a:srgbClr val="FFFFFF"/>
              </a:solidFill>
            </a:endParaRPr>
          </a:p>
          <a:p>
            <a:pPr indent="-3432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5"/>
              <a:buChar char="•"/>
            </a:pPr>
            <a:r>
              <a:rPr b="1" lang="en-US" sz="1804">
                <a:solidFill>
                  <a:srgbClr val="FFFFFF"/>
                </a:solidFill>
              </a:rPr>
              <a:t>Test Precision: 75.27%</a:t>
            </a:r>
            <a:r>
              <a:rPr lang="en-US" sz="1804">
                <a:solidFill>
                  <a:srgbClr val="FFFFFF"/>
                </a:solidFill>
              </a:rPr>
              <a:t> of the models predictions for malignancy were actually malignant</a:t>
            </a:r>
            <a:endParaRPr sz="1804">
              <a:solidFill>
                <a:srgbClr val="FFFFFF"/>
              </a:solidFill>
            </a:endParaRPr>
          </a:p>
          <a:p>
            <a:pPr indent="-3432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5"/>
              <a:buChar char="•"/>
            </a:pPr>
            <a:r>
              <a:rPr b="1" lang="en-US" sz="1804">
                <a:solidFill>
                  <a:srgbClr val="FFFFFF"/>
                </a:solidFill>
              </a:rPr>
              <a:t>Recall:</a:t>
            </a:r>
            <a:r>
              <a:rPr lang="en-US" sz="1804">
                <a:solidFill>
                  <a:srgbClr val="FFFFFF"/>
                </a:solidFill>
              </a:rPr>
              <a:t> Successfully found </a:t>
            </a:r>
            <a:r>
              <a:rPr b="1" lang="en-US" sz="1804">
                <a:solidFill>
                  <a:srgbClr val="FFFFFF"/>
                </a:solidFill>
              </a:rPr>
              <a:t>75.67%</a:t>
            </a:r>
            <a:r>
              <a:rPr lang="en-US" sz="1804">
                <a:solidFill>
                  <a:srgbClr val="FFFFFF"/>
                </a:solidFill>
              </a:rPr>
              <a:t> of malignant tumors </a:t>
            </a:r>
            <a:endParaRPr sz="1804">
              <a:solidFill>
                <a:srgbClr val="FFFFFF"/>
              </a:solidFill>
            </a:endParaRPr>
          </a:p>
          <a:p>
            <a:pPr indent="-343217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5"/>
              <a:buChar char="•"/>
            </a:pPr>
            <a:r>
              <a:rPr lang="en-US" sz="1804">
                <a:solidFill>
                  <a:srgbClr val="FFFFFF"/>
                </a:solidFill>
              </a:rPr>
              <a:t>False positive rate: </a:t>
            </a:r>
            <a:r>
              <a:rPr b="1" lang="en-US" sz="1804">
                <a:solidFill>
                  <a:srgbClr val="FFFFFF"/>
                </a:solidFill>
              </a:rPr>
              <a:t>24.33%</a:t>
            </a:r>
            <a:endParaRPr b="1" sz="1804">
              <a:solidFill>
                <a:srgbClr val="FFFFFF"/>
              </a:solidFill>
            </a:endParaRPr>
          </a:p>
          <a:p>
            <a:pPr indent="-3432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5"/>
              <a:buChar char="•"/>
            </a:pPr>
            <a:r>
              <a:rPr b="1" lang="en-US" sz="1804">
                <a:solidFill>
                  <a:srgbClr val="FFFFFF"/>
                </a:solidFill>
              </a:rPr>
              <a:t>F1-score:</a:t>
            </a:r>
            <a:r>
              <a:rPr lang="en-US" sz="1804">
                <a:solidFill>
                  <a:srgbClr val="FFFFFF"/>
                </a:solidFill>
              </a:rPr>
              <a:t>The harmonic mean of precision and recall  was  </a:t>
            </a:r>
            <a:r>
              <a:rPr b="1" lang="en-US" sz="1804">
                <a:solidFill>
                  <a:srgbClr val="FFFFFF"/>
                </a:solidFill>
              </a:rPr>
              <a:t>75.43%</a:t>
            </a:r>
            <a:endParaRPr b="1" sz="1804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770"/>
              <a:buNone/>
            </a:pPr>
            <a:r>
              <a:rPr b="1" lang="en-US" sz="2405">
                <a:solidFill>
                  <a:srgbClr val="FFFFFF"/>
                </a:solidFill>
              </a:rPr>
              <a:t>Issues:</a:t>
            </a:r>
            <a:endParaRPr b="1" sz="2405">
              <a:solidFill>
                <a:srgbClr val="FFFFFF"/>
              </a:solidFill>
            </a:endParaRPr>
          </a:p>
          <a:p>
            <a:pPr indent="-343217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5"/>
              <a:buChar char="•"/>
            </a:pPr>
            <a:r>
              <a:rPr lang="en-US" sz="1804">
                <a:solidFill>
                  <a:srgbClr val="FFFFFF"/>
                </a:solidFill>
              </a:rPr>
              <a:t>Overfitting</a:t>
            </a:r>
            <a:endParaRPr sz="1804">
              <a:solidFill>
                <a:srgbClr val="FFFFFF"/>
              </a:solidFill>
            </a:endParaRPr>
          </a:p>
          <a:p>
            <a:pPr indent="-34321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5"/>
              <a:buChar char="•"/>
            </a:pPr>
            <a:r>
              <a:rPr lang="en-US" sz="1804">
                <a:solidFill>
                  <a:srgbClr val="FFFFFF"/>
                </a:solidFill>
              </a:rPr>
              <a:t>High false positive rate</a:t>
            </a:r>
            <a:endParaRPr sz="1804">
              <a:solidFill>
                <a:srgbClr val="FFFFFF"/>
              </a:solidFill>
            </a:endParaRPr>
          </a:p>
        </p:txBody>
      </p:sp>
      <p:sp>
        <p:nvSpPr>
          <p:cNvPr id="195" name="Google Shape;195;g3ad5edadb24_0_127"/>
          <p:cNvSpPr txBox="1"/>
          <p:nvPr/>
        </p:nvSpPr>
        <p:spPr>
          <a:xfrm>
            <a:off x="8154925" y="1599725"/>
            <a:ext cx="3426900" cy="3969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Confusion Matrix</a:t>
            </a:r>
            <a:r>
              <a:rPr lang="en-US" sz="2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(Counts)</a:t>
            </a:r>
            <a:r>
              <a:rPr b="1" lang="en-US" sz="2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1" sz="21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ad5edadb24_0_1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Results(</a:t>
            </a:r>
            <a:r>
              <a:rPr lang="en-US">
                <a:solidFill>
                  <a:schemeClr val="lt1"/>
                </a:solidFill>
              </a:rPr>
              <a:t>Before Hyperparameter Tuning)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197" name="Google Shape;197;g3ad5edadb24_0_127"/>
          <p:cNvGraphicFramePr/>
          <p:nvPr/>
        </p:nvGraphicFramePr>
        <p:xfrm>
          <a:off x="8272075" y="222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{FF1F202D-FF9B-4914-88D8-CDAD4D17DFF4}</a:tableStyleId>
              </a:tblPr>
              <a:tblGrid>
                <a:gridCol w="1430075"/>
                <a:gridCol w="1508350"/>
              </a:tblGrid>
              <a:tr h="83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Negatives:</a:t>
                      </a:r>
                      <a:endParaRPr sz="2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169</a:t>
                      </a:r>
                      <a:endParaRPr sz="2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 Positives:</a:t>
                      </a:r>
                      <a:endParaRPr sz="2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</a:t>
                      </a:r>
                      <a:endParaRPr sz="2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 Negatives:</a:t>
                      </a:r>
                      <a:endParaRPr sz="2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</a:t>
                      </a:r>
                      <a:endParaRPr sz="2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Positives:</a:t>
                      </a:r>
                      <a:endParaRPr sz="2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106</a:t>
                      </a:r>
                      <a:endParaRPr sz="2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d5edadb24_0_145"/>
          <p:cNvSpPr txBox="1"/>
          <p:nvPr>
            <p:ph idx="1" type="body"/>
          </p:nvPr>
        </p:nvSpPr>
        <p:spPr>
          <a:xfrm>
            <a:off x="838200" y="1539325"/>
            <a:ext cx="6696600" cy="43512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100"/>
              <a:buChar char="•"/>
            </a:pPr>
            <a:r>
              <a:rPr b="1" lang="en-US" sz="2100">
                <a:solidFill>
                  <a:srgbClr val="FFFFFF"/>
                </a:solidFill>
              </a:rPr>
              <a:t>Train Accuracy: </a:t>
            </a:r>
            <a:r>
              <a:rPr b="1" lang="en-US" sz="2100">
                <a:solidFill>
                  <a:schemeClr val="lt1"/>
                </a:solidFill>
              </a:rPr>
              <a:t>87.87</a:t>
            </a:r>
            <a:r>
              <a:rPr b="1" lang="en-US" sz="2100">
                <a:solidFill>
                  <a:srgbClr val="FFFFFF"/>
                </a:solidFill>
              </a:rPr>
              <a:t>%</a:t>
            </a:r>
            <a:r>
              <a:rPr lang="en-US" sz="2100">
                <a:solidFill>
                  <a:srgbClr val="FFFFFF"/>
                </a:solidFill>
              </a:rPr>
              <a:t> of all train predictions were correct</a:t>
            </a:r>
            <a:endParaRPr sz="2100">
              <a:solidFill>
                <a:srgbClr val="FFFFFF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Char char="•"/>
            </a:pPr>
            <a:r>
              <a:rPr b="1" lang="en-US" sz="2100">
                <a:solidFill>
                  <a:srgbClr val="FFFFFF"/>
                </a:solidFill>
              </a:rPr>
              <a:t>Test Accuracy: </a:t>
            </a:r>
            <a:r>
              <a:rPr b="1" lang="en-US" sz="2100">
                <a:solidFill>
                  <a:schemeClr val="lt1"/>
                </a:solidFill>
              </a:rPr>
              <a:t>78.97</a:t>
            </a:r>
            <a:r>
              <a:rPr b="1" lang="en-US" sz="2100">
                <a:solidFill>
                  <a:srgbClr val="FFFFFF"/>
                </a:solidFill>
              </a:rPr>
              <a:t>% </a:t>
            </a:r>
            <a:r>
              <a:rPr lang="en-US" sz="2100">
                <a:solidFill>
                  <a:srgbClr val="FFFFFF"/>
                </a:solidFill>
              </a:rPr>
              <a:t>of all test predictions were correct</a:t>
            </a:r>
            <a:endParaRPr sz="2100">
              <a:solidFill>
                <a:srgbClr val="FFFFFF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Char char="•"/>
            </a:pPr>
            <a:r>
              <a:rPr b="1" lang="en-US" sz="2100">
                <a:solidFill>
                  <a:srgbClr val="FFFFFF"/>
                </a:solidFill>
              </a:rPr>
              <a:t>Test Precision: </a:t>
            </a:r>
            <a:r>
              <a:rPr b="1" lang="en-US" sz="2100">
                <a:solidFill>
                  <a:schemeClr val="lt1"/>
                </a:solidFill>
              </a:rPr>
              <a:t>78.21</a:t>
            </a:r>
            <a:r>
              <a:rPr b="1" lang="en-US" sz="2100">
                <a:solidFill>
                  <a:srgbClr val="FFFFFF"/>
                </a:solidFill>
              </a:rPr>
              <a:t>%</a:t>
            </a:r>
            <a:r>
              <a:rPr lang="en-US" sz="2100">
                <a:solidFill>
                  <a:srgbClr val="FFFFFF"/>
                </a:solidFill>
              </a:rPr>
              <a:t> of the models predictions for malignancy were actually malignant</a:t>
            </a:r>
            <a:endParaRPr sz="2100">
              <a:solidFill>
                <a:srgbClr val="FFFFFF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Char char="•"/>
            </a:pPr>
            <a:r>
              <a:rPr b="1" lang="en-US" sz="2100">
                <a:solidFill>
                  <a:srgbClr val="FFFFFF"/>
                </a:solidFill>
              </a:rPr>
              <a:t>Recall:</a:t>
            </a:r>
            <a:r>
              <a:rPr lang="en-US" sz="2100">
                <a:solidFill>
                  <a:srgbClr val="FFFFFF"/>
                </a:solidFill>
              </a:rPr>
              <a:t> Successfully found </a:t>
            </a:r>
            <a:r>
              <a:rPr b="1" lang="en-US" sz="2100">
                <a:solidFill>
                  <a:schemeClr val="lt1"/>
                </a:solidFill>
              </a:rPr>
              <a:t>79.01</a:t>
            </a:r>
            <a:r>
              <a:rPr b="1" lang="en-US" sz="2100">
                <a:solidFill>
                  <a:srgbClr val="FFFFFF"/>
                </a:solidFill>
              </a:rPr>
              <a:t>%</a:t>
            </a:r>
            <a:r>
              <a:rPr lang="en-US" sz="2100">
                <a:solidFill>
                  <a:srgbClr val="FFFFFF"/>
                </a:solidFill>
              </a:rPr>
              <a:t> of malignant tumors </a:t>
            </a:r>
            <a:endParaRPr sz="2100">
              <a:solidFill>
                <a:srgbClr val="FFFFFF"/>
              </a:solidFill>
            </a:endParaRPr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Char char="•"/>
            </a:pPr>
            <a:r>
              <a:rPr lang="en-US" sz="2100">
                <a:solidFill>
                  <a:srgbClr val="FFFFFF"/>
                </a:solidFill>
              </a:rPr>
              <a:t>False positive rate: </a:t>
            </a:r>
            <a:r>
              <a:rPr b="1" lang="en-US" sz="2100">
                <a:solidFill>
                  <a:srgbClr val="FFFFFF"/>
                </a:solidFill>
              </a:rPr>
              <a:t>20</a:t>
            </a:r>
            <a:r>
              <a:rPr b="1" lang="en-US" sz="2100">
                <a:solidFill>
                  <a:srgbClr val="FFFFFF"/>
                </a:solidFill>
              </a:rPr>
              <a:t>.99%</a:t>
            </a:r>
            <a:endParaRPr b="1" sz="2100">
              <a:solidFill>
                <a:srgbClr val="FFFFFF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Char char="•"/>
            </a:pPr>
            <a:r>
              <a:rPr b="1" lang="en-US" sz="2100">
                <a:solidFill>
                  <a:srgbClr val="FFFFFF"/>
                </a:solidFill>
              </a:rPr>
              <a:t>F1-score:</a:t>
            </a:r>
            <a:r>
              <a:rPr lang="en-US" sz="2100">
                <a:solidFill>
                  <a:srgbClr val="FFFFFF"/>
                </a:solidFill>
              </a:rPr>
              <a:t>The harmonic mean of precision and recall  was  </a:t>
            </a:r>
            <a:r>
              <a:rPr b="1" lang="en-US" sz="2100">
                <a:solidFill>
                  <a:srgbClr val="FFFFFF"/>
                </a:solidFill>
              </a:rPr>
              <a:t>78.45%</a:t>
            </a:r>
            <a:endParaRPr b="1" sz="21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</a:endParaRPr>
          </a:p>
        </p:txBody>
      </p:sp>
      <p:sp>
        <p:nvSpPr>
          <p:cNvPr id="204" name="Google Shape;204;g3ad5edadb24_0_145"/>
          <p:cNvSpPr txBox="1"/>
          <p:nvPr/>
        </p:nvSpPr>
        <p:spPr>
          <a:xfrm>
            <a:off x="8154925" y="1599725"/>
            <a:ext cx="3426900" cy="3969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Confusion Matrix</a:t>
            </a:r>
            <a:r>
              <a:rPr lang="en-US" sz="2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(Counts)</a:t>
            </a:r>
            <a:r>
              <a:rPr b="1" lang="en-US" sz="2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1" sz="21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ad5edadb24_0_1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Best </a:t>
            </a:r>
            <a:r>
              <a:rPr b="1" lang="en-US">
                <a:solidFill>
                  <a:schemeClr val="lt1"/>
                </a:solidFill>
              </a:rPr>
              <a:t>Results(</a:t>
            </a:r>
            <a:r>
              <a:rPr lang="en-US">
                <a:solidFill>
                  <a:schemeClr val="lt1"/>
                </a:solidFill>
              </a:rPr>
              <a:t>After</a:t>
            </a:r>
            <a:r>
              <a:rPr lang="en-US">
                <a:solidFill>
                  <a:schemeClr val="lt1"/>
                </a:solidFill>
              </a:rPr>
              <a:t> Hyperparameter Tuning)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206" name="Google Shape;206;g3ad5edadb24_0_145"/>
          <p:cNvGraphicFramePr/>
          <p:nvPr/>
        </p:nvGraphicFramePr>
        <p:xfrm>
          <a:off x="8272075" y="222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{FF1F202D-FF9B-4914-88D8-CDAD4D17DFF4}</a:tableStyleId>
              </a:tblPr>
              <a:tblGrid>
                <a:gridCol w="1430075"/>
                <a:gridCol w="1508350"/>
              </a:tblGrid>
              <a:tr h="83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Negatives:</a:t>
                      </a:r>
                      <a:endParaRPr sz="2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170</a:t>
                      </a:r>
                      <a:endParaRPr sz="2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 Positives:</a:t>
                      </a:r>
                      <a:endParaRPr sz="2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</a:t>
                      </a:r>
                      <a:endParaRPr sz="2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 Negatives:</a:t>
                      </a:r>
                      <a:endParaRPr sz="2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2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Positives:</a:t>
                      </a:r>
                      <a:endParaRPr sz="2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115</a:t>
                      </a:r>
                      <a:endParaRPr sz="2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d5edadb24_0_153"/>
          <p:cNvSpPr txBox="1"/>
          <p:nvPr>
            <p:ph idx="1" type="body"/>
          </p:nvPr>
        </p:nvSpPr>
        <p:spPr>
          <a:xfrm>
            <a:off x="838200" y="1539325"/>
            <a:ext cx="7078800" cy="43512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</a:rPr>
              <a:t>Reduced number of features (12 to 10)</a:t>
            </a:r>
            <a:endParaRPr b="1" sz="2100">
              <a:solidFill>
                <a:srgbClr val="FFFFFF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100"/>
              <a:buChar char="•"/>
            </a:pPr>
            <a:r>
              <a:rPr b="1" lang="en-US" sz="2100">
                <a:solidFill>
                  <a:srgbClr val="FFFFFF"/>
                </a:solidFill>
              </a:rPr>
              <a:t>Train Accuracy: </a:t>
            </a:r>
            <a:r>
              <a:rPr b="1" lang="en-US" sz="2100">
                <a:solidFill>
                  <a:schemeClr val="lt1"/>
                </a:solidFill>
              </a:rPr>
              <a:t>64.37</a:t>
            </a:r>
            <a:r>
              <a:rPr b="1" lang="en-US" sz="2100">
                <a:solidFill>
                  <a:srgbClr val="FFFFFF"/>
                </a:solidFill>
              </a:rPr>
              <a:t>%</a:t>
            </a:r>
            <a:r>
              <a:rPr lang="en-US" sz="2100">
                <a:solidFill>
                  <a:srgbClr val="FFFFFF"/>
                </a:solidFill>
              </a:rPr>
              <a:t> of all train predictions were correct</a:t>
            </a:r>
            <a:endParaRPr sz="2100">
              <a:solidFill>
                <a:srgbClr val="FFFFFF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Char char="•"/>
            </a:pPr>
            <a:r>
              <a:rPr b="1" lang="en-US" sz="2100">
                <a:solidFill>
                  <a:srgbClr val="FFFFFF"/>
                </a:solidFill>
              </a:rPr>
              <a:t>Test Accuracy: </a:t>
            </a:r>
            <a:r>
              <a:rPr b="1" lang="en-US" sz="2100">
                <a:solidFill>
                  <a:schemeClr val="lt1"/>
                </a:solidFill>
              </a:rPr>
              <a:t>55</a:t>
            </a:r>
            <a:r>
              <a:rPr b="1" lang="en-US" sz="2100">
                <a:solidFill>
                  <a:schemeClr val="lt1"/>
                </a:solidFill>
              </a:rPr>
              <a:t>.68</a:t>
            </a:r>
            <a:r>
              <a:rPr b="1" lang="en-US" sz="2100">
                <a:solidFill>
                  <a:srgbClr val="FFFFFF"/>
                </a:solidFill>
              </a:rPr>
              <a:t>% </a:t>
            </a:r>
            <a:r>
              <a:rPr lang="en-US" sz="2100">
                <a:solidFill>
                  <a:srgbClr val="FFFFFF"/>
                </a:solidFill>
              </a:rPr>
              <a:t>of all test predictions were correct</a:t>
            </a:r>
            <a:endParaRPr sz="2100">
              <a:solidFill>
                <a:srgbClr val="FFFFFF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Char char="•"/>
            </a:pPr>
            <a:r>
              <a:rPr b="1" lang="en-US" sz="2100">
                <a:solidFill>
                  <a:srgbClr val="FFFFFF"/>
                </a:solidFill>
              </a:rPr>
              <a:t>Test Precision: </a:t>
            </a:r>
            <a:r>
              <a:rPr b="1" lang="en-US" sz="2100">
                <a:solidFill>
                  <a:schemeClr val="lt1"/>
                </a:solidFill>
              </a:rPr>
              <a:t>56.27</a:t>
            </a:r>
            <a:r>
              <a:rPr b="1" lang="en-US" sz="2100">
                <a:solidFill>
                  <a:srgbClr val="FFFFFF"/>
                </a:solidFill>
              </a:rPr>
              <a:t>%</a:t>
            </a:r>
            <a:r>
              <a:rPr lang="en-US" sz="2100">
                <a:solidFill>
                  <a:srgbClr val="FFFFFF"/>
                </a:solidFill>
              </a:rPr>
              <a:t> of the models predictions for malignancy were actually malignant</a:t>
            </a:r>
            <a:endParaRPr sz="2100">
              <a:solidFill>
                <a:srgbClr val="FFFFFF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Char char="•"/>
            </a:pPr>
            <a:r>
              <a:rPr b="1" lang="en-US" sz="2100">
                <a:solidFill>
                  <a:srgbClr val="FFFFFF"/>
                </a:solidFill>
              </a:rPr>
              <a:t>Recall:</a:t>
            </a:r>
            <a:r>
              <a:rPr lang="en-US" sz="2100">
                <a:solidFill>
                  <a:srgbClr val="FFFFFF"/>
                </a:solidFill>
              </a:rPr>
              <a:t> Successfully found </a:t>
            </a:r>
            <a:r>
              <a:rPr b="1" lang="en-US" sz="2100">
                <a:solidFill>
                  <a:schemeClr val="lt1"/>
                </a:solidFill>
              </a:rPr>
              <a:t>56.50</a:t>
            </a:r>
            <a:r>
              <a:rPr b="1" lang="en-US" sz="2100">
                <a:solidFill>
                  <a:srgbClr val="FFFFFF"/>
                </a:solidFill>
              </a:rPr>
              <a:t>%</a:t>
            </a:r>
            <a:r>
              <a:rPr lang="en-US" sz="2100">
                <a:solidFill>
                  <a:srgbClr val="FFFFFF"/>
                </a:solidFill>
              </a:rPr>
              <a:t> of malignant tumors </a:t>
            </a:r>
            <a:endParaRPr sz="2100">
              <a:solidFill>
                <a:srgbClr val="FFFFFF"/>
              </a:solidFill>
            </a:endParaRPr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Char char="•"/>
            </a:pPr>
            <a:r>
              <a:rPr lang="en-US" sz="2100">
                <a:solidFill>
                  <a:srgbClr val="FFFFFF"/>
                </a:solidFill>
              </a:rPr>
              <a:t>False positive rate: </a:t>
            </a:r>
            <a:r>
              <a:rPr b="1" lang="en-US" sz="2100">
                <a:solidFill>
                  <a:srgbClr val="FFFFFF"/>
                </a:solidFill>
              </a:rPr>
              <a:t>34</a:t>
            </a:r>
            <a:r>
              <a:rPr b="1" lang="en-US" sz="2100">
                <a:solidFill>
                  <a:srgbClr val="FFFFFF"/>
                </a:solidFill>
              </a:rPr>
              <a:t>.50%</a:t>
            </a:r>
            <a:endParaRPr b="1" sz="2100">
              <a:solidFill>
                <a:srgbClr val="FFFFFF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Char char="•"/>
            </a:pPr>
            <a:r>
              <a:rPr b="1" lang="en-US" sz="2100">
                <a:solidFill>
                  <a:srgbClr val="FFFFFF"/>
                </a:solidFill>
              </a:rPr>
              <a:t>F1-score:</a:t>
            </a:r>
            <a:r>
              <a:rPr lang="en-US" sz="2100">
                <a:solidFill>
                  <a:srgbClr val="FFFFFF"/>
                </a:solidFill>
              </a:rPr>
              <a:t>The harmonic mean of precision and recall  was  </a:t>
            </a:r>
            <a:r>
              <a:rPr b="1" lang="en-US" sz="2100">
                <a:solidFill>
                  <a:srgbClr val="FFFFFF"/>
                </a:solidFill>
              </a:rPr>
              <a:t>55.47</a:t>
            </a:r>
            <a:r>
              <a:rPr b="1" lang="en-US" sz="2100">
                <a:solidFill>
                  <a:srgbClr val="FFFFFF"/>
                </a:solidFill>
              </a:rPr>
              <a:t>%</a:t>
            </a:r>
            <a:endParaRPr b="1" sz="21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</a:endParaRPr>
          </a:p>
        </p:txBody>
      </p:sp>
      <p:sp>
        <p:nvSpPr>
          <p:cNvPr id="213" name="Google Shape;213;g3ad5edadb24_0_153"/>
          <p:cNvSpPr txBox="1"/>
          <p:nvPr/>
        </p:nvSpPr>
        <p:spPr>
          <a:xfrm>
            <a:off x="8154925" y="1599725"/>
            <a:ext cx="3426900" cy="3969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Confusion Matrix</a:t>
            </a:r>
            <a:r>
              <a:rPr lang="en-US" sz="2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(Counts)</a:t>
            </a:r>
            <a:r>
              <a:rPr b="1" lang="en-US" sz="2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1" sz="21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ad5edadb24_0_153"/>
          <p:cNvSpPr txBox="1"/>
          <p:nvPr>
            <p:ph type="title"/>
          </p:nvPr>
        </p:nvSpPr>
        <p:spPr>
          <a:xfrm>
            <a:off x="838200" y="213625"/>
            <a:ext cx="10515600" cy="1325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Worst</a:t>
            </a:r>
            <a:r>
              <a:rPr b="1" lang="en-US">
                <a:solidFill>
                  <a:schemeClr val="lt1"/>
                </a:solidFill>
              </a:rPr>
              <a:t> Results(</a:t>
            </a:r>
            <a:r>
              <a:rPr lang="en-US">
                <a:solidFill>
                  <a:schemeClr val="lt1"/>
                </a:solidFill>
              </a:rPr>
              <a:t>Dimensionality Reduction After </a:t>
            </a:r>
            <a:r>
              <a:rPr lang="en-US">
                <a:solidFill>
                  <a:schemeClr val="lt1"/>
                </a:solidFill>
              </a:rPr>
              <a:t>Hyperparameter Tuning)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215" name="Google Shape;215;g3ad5edadb24_0_153"/>
          <p:cNvGraphicFramePr/>
          <p:nvPr/>
        </p:nvGraphicFramePr>
        <p:xfrm>
          <a:off x="8272075" y="222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{FF1F202D-FF9B-4914-88D8-CDAD4D17DFF4}</a:tableStyleId>
              </a:tblPr>
              <a:tblGrid>
                <a:gridCol w="1430075"/>
                <a:gridCol w="1508350"/>
              </a:tblGrid>
              <a:tr h="83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Negatives:</a:t>
                      </a:r>
                      <a:endParaRPr sz="2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113</a:t>
                      </a:r>
                      <a:endParaRPr sz="2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 Positives:</a:t>
                      </a:r>
                      <a:endParaRPr sz="2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</a:t>
                      </a:r>
                      <a:endParaRPr sz="2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 Negatives:</a:t>
                      </a:r>
                      <a:endParaRPr sz="2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</a:t>
                      </a:r>
                      <a:endParaRPr sz="2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Positives:</a:t>
                      </a:r>
                      <a:endParaRPr sz="2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</a:t>
                      </a:r>
                      <a:endParaRPr sz="2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d5edadb24_0_16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Conclusion and Next Steps: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22" name="Google Shape;222;g3ad5edadb24_0_16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Developed an </a:t>
            </a:r>
            <a:r>
              <a:rPr b="1" lang="en-US">
                <a:solidFill>
                  <a:schemeClr val="lt1"/>
                </a:solidFill>
              </a:rPr>
              <a:t>ANN </a:t>
            </a:r>
            <a:r>
              <a:rPr lang="en-US">
                <a:solidFill>
                  <a:schemeClr val="lt1"/>
                </a:solidFill>
              </a:rPr>
              <a:t>to predict the malignancy of masses using the Mass-case descriptions from the</a:t>
            </a:r>
            <a:r>
              <a:rPr b="1" lang="en-US">
                <a:solidFill>
                  <a:schemeClr val="lt1"/>
                </a:solidFill>
              </a:rPr>
              <a:t> CBIS-DDSM </a:t>
            </a:r>
            <a:r>
              <a:rPr lang="en-US">
                <a:solidFill>
                  <a:schemeClr val="lt1"/>
                </a:solidFill>
              </a:rPr>
              <a:t>dataset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Adressed class imbalance by </a:t>
            </a:r>
            <a:r>
              <a:rPr b="1" lang="en-US">
                <a:solidFill>
                  <a:schemeClr val="lt1"/>
                </a:solidFill>
              </a:rPr>
              <a:t>resampling</a:t>
            </a:r>
            <a:r>
              <a:rPr lang="en-US">
                <a:solidFill>
                  <a:schemeClr val="lt1"/>
                </a:solidFill>
              </a:rPr>
              <a:t> an</a:t>
            </a:r>
            <a:r>
              <a:rPr b="1" lang="en-US">
                <a:solidFill>
                  <a:schemeClr val="lt1"/>
                </a:solidFill>
              </a:rPr>
              <a:t>d tuned hyperparameters</a:t>
            </a:r>
            <a:r>
              <a:rPr lang="en-US">
                <a:solidFill>
                  <a:schemeClr val="lt1"/>
                </a:solidFill>
              </a:rPr>
              <a:t> to combat overfitting, low recall, and class imbalance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Model achieved balance </a:t>
            </a:r>
            <a:r>
              <a:rPr lang="en-US">
                <a:solidFill>
                  <a:schemeClr val="lt1"/>
                </a:solidFill>
              </a:rPr>
              <a:t>performance</a:t>
            </a:r>
            <a:endParaRPr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b="1" lang="en-US">
                <a:solidFill>
                  <a:schemeClr val="lt1"/>
                </a:solidFill>
              </a:rPr>
              <a:t>F1 score: 78.45%</a:t>
            </a:r>
            <a:endParaRPr b="1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Biggest concern was f</a:t>
            </a:r>
            <a:r>
              <a:rPr b="1" lang="en-US">
                <a:solidFill>
                  <a:schemeClr val="lt1"/>
                </a:solidFill>
              </a:rPr>
              <a:t>alse negative </a:t>
            </a:r>
            <a:r>
              <a:rPr lang="en-US">
                <a:solidFill>
                  <a:schemeClr val="lt1"/>
                </a:solidFill>
              </a:rPr>
              <a:t>rate:</a:t>
            </a:r>
            <a:endParaRPr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n-US">
                <a:solidFill>
                  <a:schemeClr val="lt1"/>
                </a:solidFill>
              </a:rPr>
              <a:t>Lowest </a:t>
            </a:r>
            <a:r>
              <a:rPr lang="en-US">
                <a:solidFill>
                  <a:schemeClr val="lt1"/>
                </a:solidFill>
              </a:rPr>
              <a:t>achieved</a:t>
            </a:r>
            <a:r>
              <a:rPr lang="en-US">
                <a:solidFill>
                  <a:schemeClr val="lt1"/>
                </a:solidFill>
              </a:rPr>
              <a:t>:  </a:t>
            </a:r>
            <a:r>
              <a:rPr b="1" lang="en-US" sz="2100">
                <a:solidFill>
                  <a:srgbClr val="FFFFFF"/>
                </a:solidFill>
              </a:rPr>
              <a:t>20.99%</a:t>
            </a:r>
            <a:endParaRPr b="1" sz="2100">
              <a:solidFill>
                <a:srgbClr val="FFFFFF"/>
              </a:solidFill>
            </a:endParaRPr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d5edadb24_0_168"/>
          <p:cNvSpPr txBox="1"/>
          <p:nvPr>
            <p:ph type="title"/>
          </p:nvPr>
        </p:nvSpPr>
        <p:spPr>
          <a:xfrm>
            <a:off x="838200" y="2089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Limitations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29" name="Google Shape;229;g3ad5edadb24_0_168"/>
          <p:cNvSpPr txBox="1"/>
          <p:nvPr>
            <p:ph idx="1" type="body"/>
          </p:nvPr>
        </p:nvSpPr>
        <p:spPr>
          <a:xfrm>
            <a:off x="838200" y="12534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 Gap persists between Training Accuracy (</a:t>
            </a:r>
            <a:r>
              <a:rPr b="1" lang="en-US">
                <a:solidFill>
                  <a:srgbClr val="FFFFFF"/>
                </a:solidFill>
              </a:rPr>
              <a:t>87.87%)</a:t>
            </a:r>
            <a:r>
              <a:rPr lang="en-US">
                <a:solidFill>
                  <a:srgbClr val="FFFFFF"/>
                </a:solidFill>
              </a:rPr>
              <a:t> and  Test Accuracy (</a:t>
            </a:r>
            <a:r>
              <a:rPr b="1" lang="en-US">
                <a:solidFill>
                  <a:srgbClr val="FFFFFF"/>
                </a:solidFill>
              </a:rPr>
              <a:t>78.97%</a:t>
            </a:r>
            <a:r>
              <a:rPr lang="en-US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Lacks richness of raw image data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Threshold: Metrics used 50% threshold</a:t>
            </a:r>
            <a:endParaRPr>
              <a:solidFill>
                <a:srgbClr val="FFFFFF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Threshold could be tuned to balance the cost of false negatives vs. false positives</a:t>
            </a:r>
            <a:endParaRPr>
              <a:solidFill>
                <a:srgbClr val="FFFFFF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30" name="Google Shape;230;g3ad5edadb24_0_168"/>
          <p:cNvSpPr txBox="1"/>
          <p:nvPr>
            <p:ph type="title"/>
          </p:nvPr>
        </p:nvSpPr>
        <p:spPr>
          <a:xfrm>
            <a:off x="838200" y="35856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Next steps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1" name="Google Shape;231;g3ad5edadb24_0_168"/>
          <p:cNvSpPr txBox="1"/>
          <p:nvPr>
            <p:ph idx="1" type="body"/>
          </p:nvPr>
        </p:nvSpPr>
        <p:spPr>
          <a:xfrm>
            <a:off x="838200" y="4658775"/>
            <a:ext cx="10275300" cy="2822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b="1" lang="en-US">
                <a:solidFill>
                  <a:srgbClr val="FFFFFF"/>
                </a:solidFill>
              </a:rPr>
              <a:t>Ensemble learning:</a:t>
            </a:r>
            <a:r>
              <a:rPr lang="en-US">
                <a:solidFill>
                  <a:srgbClr val="FFFFFF"/>
                </a:solidFill>
              </a:rPr>
              <a:t> Combine ANN with other models</a:t>
            </a:r>
            <a:endParaRPr>
              <a:solidFill>
                <a:srgbClr val="FFFFFF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b="1" lang="en-US">
                <a:solidFill>
                  <a:srgbClr val="FFFFFF"/>
                </a:solidFill>
              </a:rPr>
              <a:t>Random Forests:</a:t>
            </a:r>
            <a:r>
              <a:rPr lang="en-US">
                <a:solidFill>
                  <a:srgbClr val="FFFFFF"/>
                </a:solidFill>
              </a:rPr>
              <a:t> Uses many decision trees to make predictions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en-US">
                <a:solidFill>
                  <a:srgbClr val="FFFFFF"/>
                </a:solidFill>
              </a:rPr>
              <a:t>For maximum accuracy, transition to inclusion of raw image data through a</a:t>
            </a:r>
            <a:r>
              <a:rPr b="1" lang="en-US">
                <a:solidFill>
                  <a:srgbClr val="FFFFFF"/>
                </a:solidFill>
              </a:rPr>
              <a:t> Convolutional Neural Network(CNN)</a:t>
            </a:r>
            <a:r>
              <a:rPr lang="en-US">
                <a:solidFill>
                  <a:srgbClr val="FFFFFF"/>
                </a:solidFill>
              </a:rPr>
              <a:t> approach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603e795dd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Sources: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8" name="Google Shape;238;g3a603e795dd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BFB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Almohanna, H., Almsned, F., Alharbi, H., Dossary, N., Alrasheed, A., Alzayer, R., &amp; Alwosaibai, K. (2025). A comprehensive epidemiological </a:t>
            </a:r>
            <a:endParaRPr sz="1400">
              <a:solidFill>
                <a:srgbClr val="FBFBF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rgbClr val="FBFB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breast cancer in the Eastern Province of Saudi Arabia. </a:t>
            </a:r>
            <a:r>
              <a:rPr i="1" lang="en-US" sz="1400">
                <a:solidFill>
                  <a:srgbClr val="FBFB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Scientific Reports</a:t>
            </a:r>
            <a:r>
              <a:rPr lang="en-US" sz="1400">
                <a:solidFill>
                  <a:srgbClr val="FBFB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1400">
                <a:solidFill>
                  <a:srgbClr val="FBFB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US" sz="1400">
                <a:solidFill>
                  <a:srgbClr val="FBFB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 sz="1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https://doi.org/10.1038/s41598-025-05276-7</a:t>
            </a:r>
            <a:endParaRPr sz="1400">
              <a:solidFill>
                <a:srgbClr val="FBFBF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BFB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American Cancer Society. (2022, January 14). </a:t>
            </a:r>
            <a:r>
              <a:rPr i="1" lang="en-US" sz="1400">
                <a:solidFill>
                  <a:srgbClr val="FBFB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of mammograms | How accurate are mammograms?</a:t>
            </a:r>
            <a:r>
              <a:rPr lang="en-US" sz="1400">
                <a:solidFill>
                  <a:srgbClr val="FBFB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rgbClr val="FBFBF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https://www.cancer.org/cancer/types/breast-cancer/screening-tests-and-early-detection/mammograms/limitations-of-mammograms.html</a:t>
            </a:r>
            <a:endParaRPr sz="1400">
              <a:solidFill>
                <a:srgbClr val="FBFBF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BFB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American Cancer Society. (2024, January 12). </a:t>
            </a:r>
            <a:r>
              <a:rPr i="1" lang="en-US" sz="1400">
                <a:solidFill>
                  <a:srgbClr val="FBFB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statistics for breast cancer</a:t>
            </a:r>
            <a:r>
              <a:rPr lang="en-US" sz="1400">
                <a:solidFill>
                  <a:srgbClr val="FBFB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400">
              <a:solidFill>
                <a:srgbClr val="FBFBF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https://www.cancer.org/cancer/types/breast-cancer/about/how-common-is-breast-cancer.html</a:t>
            </a:r>
            <a:endParaRPr sz="1400">
              <a:solidFill>
                <a:srgbClr val="FBFBF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BFB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Centers for Disease Control and Prevention. (2024, February 26). </a:t>
            </a:r>
            <a:r>
              <a:rPr i="1" lang="en-US" sz="1400">
                <a:solidFill>
                  <a:srgbClr val="FBFB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Breast cancer statistics</a:t>
            </a:r>
            <a:r>
              <a:rPr lang="en-US" sz="1400">
                <a:solidFill>
                  <a:srgbClr val="FBFB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400">
              <a:solidFill>
                <a:srgbClr val="FBFBF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https://www.cdc.gov/breast-cancer/statistics/index.html</a:t>
            </a:r>
            <a:endParaRPr sz="1400">
              <a:solidFill>
                <a:srgbClr val="FBFBF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BFB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Kashyap, P. (2024, November 2). </a:t>
            </a:r>
            <a:r>
              <a:rPr i="1" lang="en-US" sz="1400">
                <a:solidFill>
                  <a:srgbClr val="FBFB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Mastering hyperparameter tuning for neural networks with Keras Tuner</a:t>
            </a:r>
            <a:r>
              <a:rPr lang="en-US" sz="1400">
                <a:solidFill>
                  <a:srgbClr val="FBFB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Medium. </a:t>
            </a:r>
            <a:endParaRPr sz="1400">
              <a:solidFill>
                <a:srgbClr val="FBFBF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https://medium.com/@piyushkashyap045/mastering-hyperparameter-tuning-for-neural-networks-with-keras-tuner-c0b64d549188</a:t>
            </a:r>
            <a:endParaRPr sz="1400">
              <a:solidFill>
                <a:srgbClr val="FBFBF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BFB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Sawyer-Lee, R., Gimenez, F., Hoogi, A., &amp; Rubin, D. (2016). </a:t>
            </a:r>
            <a:r>
              <a:rPr i="1" lang="en-US" sz="1400">
                <a:solidFill>
                  <a:srgbClr val="FBFB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Curated Breast Imaging Subset of Digital Database for Screening Mammography </a:t>
            </a:r>
            <a:endParaRPr i="1" sz="1400">
              <a:solidFill>
                <a:srgbClr val="FBFBF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400">
                <a:solidFill>
                  <a:srgbClr val="FBFB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(CBIS-DDSM)</a:t>
            </a:r>
            <a:r>
              <a:rPr lang="en-US" sz="1400">
                <a:solidFill>
                  <a:srgbClr val="FBFBF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[Data set]. The Cancer Imaging Archive. </a:t>
            </a:r>
            <a:r>
              <a:rPr lang="en-US" sz="1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https://doi.org/10.7937/K9/TCIA.2016.7O02S9CY</a:t>
            </a:r>
            <a:endParaRPr sz="1400">
              <a:solidFill>
                <a:srgbClr val="FBFBF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FBFBF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2025-07-16T23:46:14Z</dcterms:created>
  <dc:creator>Fatemeh Asgarinejad</dc:creator>
</cp:coreProperties>
</file>